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Helvetica Neue"/>
      </a:defRPr>
    </a:lvl1pPr>
    <a:lvl2pPr indent="228600" latinLnBrk="0">
      <a:defRPr sz="1200">
        <a:latin typeface="+mj-lt"/>
        <a:ea typeface="+mj-ea"/>
        <a:cs typeface="+mj-cs"/>
        <a:sym typeface="Helvetica Neue"/>
      </a:defRPr>
    </a:lvl2pPr>
    <a:lvl3pPr indent="457200" latinLnBrk="0">
      <a:defRPr sz="1200">
        <a:latin typeface="+mj-lt"/>
        <a:ea typeface="+mj-ea"/>
        <a:cs typeface="+mj-cs"/>
        <a:sym typeface="Helvetica Neue"/>
      </a:defRPr>
    </a:lvl3pPr>
    <a:lvl4pPr indent="685800" latinLnBrk="0">
      <a:defRPr sz="1200">
        <a:latin typeface="+mj-lt"/>
        <a:ea typeface="+mj-ea"/>
        <a:cs typeface="+mj-cs"/>
        <a:sym typeface="Helvetica Neue"/>
      </a:defRPr>
    </a:lvl4pPr>
    <a:lvl5pPr indent="914400" latinLnBrk="0">
      <a:defRPr sz="1200">
        <a:latin typeface="+mj-lt"/>
        <a:ea typeface="+mj-ea"/>
        <a:cs typeface="+mj-cs"/>
        <a:sym typeface="Helvetica Neue"/>
      </a:defRPr>
    </a:lvl5pPr>
    <a:lvl6pPr indent="1143000" latinLnBrk="0">
      <a:defRPr sz="1200">
        <a:latin typeface="+mj-lt"/>
        <a:ea typeface="+mj-ea"/>
        <a:cs typeface="+mj-cs"/>
        <a:sym typeface="Helvetica Neue"/>
      </a:defRPr>
    </a:lvl6pPr>
    <a:lvl7pPr indent="1371600" latinLnBrk="0">
      <a:defRPr sz="1200">
        <a:latin typeface="+mj-lt"/>
        <a:ea typeface="+mj-ea"/>
        <a:cs typeface="+mj-cs"/>
        <a:sym typeface="Helvetica Neue"/>
      </a:defRPr>
    </a:lvl7pPr>
    <a:lvl8pPr indent="1600200" latinLnBrk="0">
      <a:defRPr sz="1200">
        <a:latin typeface="+mj-lt"/>
        <a:ea typeface="+mj-ea"/>
        <a:cs typeface="+mj-cs"/>
        <a:sym typeface="Helvetica Neue"/>
      </a:defRPr>
    </a:lvl8pPr>
    <a:lvl9pPr indent="1828800" latinLnBrk="0">
      <a:defRPr sz="1200">
        <a:latin typeface="+mj-lt"/>
        <a:ea typeface="+mj-ea"/>
        <a:cs typeface="+mj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9" name="Shape 2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Introduce the project as an API authorization security scanner, not only a demo API. The goal is to turn manual authorization checks into repeatable, configurable and reportable scanner workflows.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6" name="Shape 4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Explain that login is not enough. After authentication, the API still needs to enforce which user can access which resource and which function.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0" name="Shape 6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Use a simple example: a customer can view their own order, but should not view another customer's order or admin functions.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5" name="Shape 8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Introduce the vulnerability classes at a high level. Details come later in the module slides.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3" name="Shape 10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Frame the scanner as a tool that produces findings with severity, risk score, business impact, evidence and reproduction steps.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8" name="Shape 12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Keep this slide as the big picture. Detailed execution flow comes later.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8" name="Shape 13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Show that the project separates the API lab, scanner engine, configuration, tests and reports.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5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4" name="Shape 15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Explain why the two API versions exist. They let us test vulnerable behavior and secure behavior in a controlled lab.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Do not reveal all results here. The point is that the test surface is the same while security behavior differs.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0" name="Shape 19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Explain how the project grew from a simple user-order model into a richer lab with invoices, organizations and support tickets.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21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1" name="Shape 21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Clarify that JWT is a mechanism for carrying identity. The main test target is authorization after authentication.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22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6" name="Shape 22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This is a key technical decision. The scanner remains portable because API-specific knowledge lives in config, not in Python test code.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hape 24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4" name="Shape 24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Explain that YAML started manually so authorization rules could be modeled accurately. OpenAPI starter generation was added later to reduce onboarding effort, but human review remains necessary.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26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5" name="Shape 26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Explain how BOLA needs at least two identities with the same role. The scanner finds a resource owned by one identity and requests it as another.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Shape 28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7" name="Shape 28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Describe the runtime pipeline from YAML to report. This slide is the detailed version of the high-level architecture.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Shape 30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7" name="Shape 30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Walk through scanner/core and explain each file's responsibility without opening every file unless asked.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Shape 32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28" name="Shape 32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Explain that modules do not deal with HTTP client details directly. The executor centralizes request handling.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Shape 35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51" name="Shape 35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Use the order or order item example. Expected status is usually 403 or 404. Observed 200 creates a BOLA finding.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Shape 37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73" name="Shape 37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Use /admin/users as the main example. BFLA asks which role can run a function, not who owns an object.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hape 38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88" name="Shape 38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Explain role promotion and manipulated order total examples. This module catches field-level authorization weaknesses.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Shape 40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03" name="Shape 40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This explains why expected and observed status can both be 200 while the scanner still reports a finding.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Shape 41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18" name="Shape 41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Explain this as the newest response-analysis layer. It moves the scanner beyond status-code-only checks.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Shape 43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40" name="Shape 44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Mention that the module runs, but the current demo endpoints correctly return 401, so default demo scans do not show an unauthenticated finding.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Shape 44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50" name="Shape 45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important message is repeatability. A pentest finding needs proof, not just a label.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Shape 46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63" name="Shape 46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Explain that two technically similar bugs can have different business impact. Tenant invoice access is not the same risk as a low-sensitivity read.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Shape 48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82" name="Shape 48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Mention collapsible HTML evidence sections and sensitive data redaction.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Shape 49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00" name="Shape 50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Explain that real API scanners must avoid hidden state changes. The scanner skips destructive tests by default.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Shape 52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24" name="Shape 52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Explain the evolution: manual YAML first, OpenAPI starter later, human review always preserved.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Shape 53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34" name="Shape 53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Be explicit that the reduction from 19 to 10 did not remove vulnerabilities. It reflects a safer default scan policy.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Shape 54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48" name="Shape 54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Explain that the scanner is not special-cased for either target. The target changes through config.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Shape 55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58" name="Shape 55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Use this slide to show engineering reliability. The project is backed by automated tests, not only manual demo steps.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Shape 57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73" name="Shape 57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State limitations clearly. This makes the project look more serious, because authorization testing cannot be fully solved from schema data alone.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Shape 59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95" name="Shape 59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Present future work as a roadmap for turning the current MVP into a fuller pentest tool.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Shape 61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19" name="Shape 61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Close by positioning the project as API security automation: a scanner engine, a controlled lab, reusable test modules and pentest-style reporting.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914400" y="1844675"/>
            <a:ext cx="10363200" cy="2041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1828800" y="3886200"/>
            <a:ext cx="8534400" cy="2971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3175">
            <a:solidFill>
              <a:srgbClr val="F8FAF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1" name="Rectangle"/>
          <p:cNvSpPr/>
          <p:nvPr/>
        </p:nvSpPr>
        <p:spPr>
          <a:xfrm>
            <a:off x="533400" y="895350"/>
            <a:ext cx="85725" cy="2000250"/>
          </a:xfrm>
          <a:prstGeom prst="rect">
            <a:avLst/>
          </a:prstGeom>
          <a:solidFill>
            <a:srgbClr val="2563EB"/>
          </a:solidFill>
          <a:ln w="3175">
            <a:solidFill>
              <a:srgbClr val="2563E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2" name="AuthZ Scanner"/>
          <p:cNvSpPr txBox="1"/>
          <p:nvPr/>
        </p:nvSpPr>
        <p:spPr>
          <a:xfrm>
            <a:off x="883919" y="838200"/>
            <a:ext cx="7147562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37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AuthZ Scanner</a:t>
            </a:r>
          </a:p>
        </p:txBody>
      </p:sp>
      <p:sp>
        <p:nvSpPr>
          <p:cNvPr id="23" name="Config-Driven API Authorization Security Scanner"/>
          <p:cNvSpPr txBox="1"/>
          <p:nvPr/>
        </p:nvSpPr>
        <p:spPr>
          <a:xfrm>
            <a:off x="902969" y="1619250"/>
            <a:ext cx="7433312" cy="381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>
                <a:solidFill>
                  <a:srgbClr val="1E3A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Config-Driven API Authorization Security Scanner</a:t>
            </a:r>
          </a:p>
        </p:txBody>
      </p:sp>
      <p:sp>
        <p:nvSpPr>
          <p:cNvPr id="24" name="• Python-based authorization testing tool…"/>
          <p:cNvSpPr txBox="1"/>
          <p:nvPr/>
        </p:nvSpPr>
        <p:spPr>
          <a:xfrm>
            <a:off x="922019" y="2362200"/>
            <a:ext cx="5814062" cy="2000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21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Python-based authorization testing tool</a:t>
            </a:r>
          </a:p>
          <a:p>
            <a:pPr>
              <a:defRPr sz="21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Repeatable scans through YAML configuration</a:t>
            </a:r>
          </a:p>
          <a:p>
            <a:pPr>
              <a:defRPr sz="21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Pentest-style JSON, Markdown and HTML reporting</a:t>
            </a:r>
          </a:p>
        </p:txBody>
      </p:sp>
      <p:sp>
        <p:nvSpPr>
          <p:cNvPr id="25" name="Tayfun Ozgur"/>
          <p:cNvSpPr txBox="1"/>
          <p:nvPr/>
        </p:nvSpPr>
        <p:spPr>
          <a:xfrm>
            <a:off x="922019" y="5619750"/>
            <a:ext cx="2385062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1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Tayfun Ozgur</a:t>
            </a:r>
          </a:p>
        </p:txBody>
      </p:sp>
      <p:sp>
        <p:nvSpPr>
          <p:cNvPr id="26" name="API Security Internship Project"/>
          <p:cNvSpPr txBox="1"/>
          <p:nvPr/>
        </p:nvSpPr>
        <p:spPr>
          <a:xfrm>
            <a:off x="922019" y="5924550"/>
            <a:ext cx="3337562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0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API Security Internship Project</a:t>
            </a:r>
          </a:p>
        </p:txBody>
      </p:sp>
      <p:pic>
        <p:nvPicPr>
          <p:cNvPr id="27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24890" y="2677664"/>
            <a:ext cx="10257204" cy="44699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02"/>
          <p:cNvSpPr txBox="1"/>
          <p:nvPr/>
        </p:nvSpPr>
        <p:spPr>
          <a:xfrm>
            <a:off x="579119" y="342900"/>
            <a:ext cx="575312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1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32" name="Motivation"/>
          <p:cNvSpPr txBox="1"/>
          <p:nvPr/>
        </p:nvSpPr>
        <p:spPr>
          <a:xfrm>
            <a:off x="579119" y="666750"/>
            <a:ext cx="10195562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3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Motivation</a:t>
            </a:r>
          </a:p>
        </p:txBody>
      </p:sp>
      <p:sp>
        <p:nvSpPr>
          <p:cNvPr id="33" name="Rectangle"/>
          <p:cNvSpPr/>
          <p:nvPr/>
        </p:nvSpPr>
        <p:spPr>
          <a:xfrm>
            <a:off x="533400" y="1276350"/>
            <a:ext cx="1524000" cy="28575"/>
          </a:xfrm>
          <a:prstGeom prst="rect">
            <a:avLst/>
          </a:prstGeom>
          <a:solidFill>
            <a:srgbClr val="2563EB"/>
          </a:solidFill>
          <a:ln w="3175">
            <a:solidFill>
              <a:srgbClr val="2563E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4" name="• Authorization bugs are common in API pentests…"/>
          <p:cNvSpPr txBox="1"/>
          <p:nvPr/>
        </p:nvSpPr>
        <p:spPr>
          <a:xfrm>
            <a:off x="750569" y="1752600"/>
            <a:ext cx="5052062" cy="409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Authorization bugs are common in API pentests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Manual checks become slow as roles and endpoints grow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The scanner makes the checks repeatable and reportable</a:t>
            </a:r>
          </a:p>
        </p:txBody>
      </p:sp>
      <p:sp>
        <p:nvSpPr>
          <p:cNvPr id="35" name="Rectangle"/>
          <p:cNvSpPr/>
          <p:nvPr/>
        </p:nvSpPr>
        <p:spPr>
          <a:xfrm>
            <a:off x="6286500" y="2190750"/>
            <a:ext cx="1809750" cy="1428750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6" name="Manual API Testing"/>
          <p:cNvSpPr txBox="1"/>
          <p:nvPr/>
        </p:nvSpPr>
        <p:spPr>
          <a:xfrm>
            <a:off x="6465569" y="2343150"/>
            <a:ext cx="137541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41247">
              <a:defRPr b="1" sz="1104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Manual API Testing</a:t>
            </a:r>
          </a:p>
        </p:txBody>
      </p:sp>
      <p:sp>
        <p:nvSpPr>
          <p:cNvPr id="37" name="One-off requests…"/>
          <p:cNvSpPr txBox="1"/>
          <p:nvPr/>
        </p:nvSpPr>
        <p:spPr>
          <a:xfrm>
            <a:off x="6452110" y="2622730"/>
            <a:ext cx="1478530" cy="88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defTabSz="859536">
              <a:defRPr sz="1222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One-off requests</a:t>
            </a:r>
          </a:p>
          <a:p>
            <a:pPr defTabSz="859536">
              <a:defRPr sz="1222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Hard to repeat</a:t>
            </a:r>
          </a:p>
          <a:p>
            <a:pPr defTabSz="859536">
              <a:defRPr sz="1222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Evidence copied manually</a:t>
            </a:r>
          </a:p>
        </p:txBody>
      </p:sp>
      <p:sp>
        <p:nvSpPr>
          <p:cNvPr id="38" name="→"/>
          <p:cNvSpPr txBox="1"/>
          <p:nvPr/>
        </p:nvSpPr>
        <p:spPr>
          <a:xfrm>
            <a:off x="8351519" y="2619375"/>
            <a:ext cx="480062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21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39" name="Rectangle"/>
          <p:cNvSpPr/>
          <p:nvPr/>
        </p:nvSpPr>
        <p:spPr>
          <a:xfrm>
            <a:off x="9124950" y="2190750"/>
            <a:ext cx="2000250" cy="1428750"/>
          </a:xfrm>
          <a:prstGeom prst="rect">
            <a:avLst/>
          </a:prstGeom>
          <a:solidFill>
            <a:srgbClr val="ECFDF5"/>
          </a:solidFill>
          <a:ln w="11430">
            <a:solidFill>
              <a:srgbClr val="86EFA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0" name="AuthZ Scanner"/>
          <p:cNvSpPr txBox="1"/>
          <p:nvPr/>
        </p:nvSpPr>
        <p:spPr>
          <a:xfrm>
            <a:off x="9342119" y="2343150"/>
            <a:ext cx="156591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16653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AuthZ Scanner</a:t>
            </a:r>
          </a:p>
        </p:txBody>
      </p:sp>
      <p:sp>
        <p:nvSpPr>
          <p:cNvPr id="41" name="Config-driven…"/>
          <p:cNvSpPr txBox="1"/>
          <p:nvPr/>
        </p:nvSpPr>
        <p:spPr>
          <a:xfrm>
            <a:off x="9342119" y="2622730"/>
            <a:ext cx="1565912" cy="88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12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Config-driven</a:t>
            </a:r>
          </a:p>
          <a:p>
            <a:pPr>
              <a:defRPr sz="12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Repeatable</a:t>
            </a:r>
          </a:p>
          <a:p>
            <a:pPr>
              <a:defRPr sz="12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Report-ready evidence</a:t>
            </a:r>
          </a:p>
        </p:txBody>
      </p:sp>
      <p:sp>
        <p:nvSpPr>
          <p:cNvPr id="42" name="Rectangle"/>
          <p:cNvSpPr/>
          <p:nvPr/>
        </p:nvSpPr>
        <p:spPr>
          <a:xfrm>
            <a:off x="7315200" y="4000500"/>
            <a:ext cx="2762250" cy="342900"/>
          </a:xfrm>
          <a:prstGeom prst="rect">
            <a:avLst/>
          </a:prstGeom>
          <a:solidFill>
            <a:srgbClr val="EEF6FF"/>
          </a:solidFill>
          <a:ln w="3175">
            <a:solidFill>
              <a:srgbClr val="EEF6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3" name="repeatable security workflow"/>
          <p:cNvSpPr txBox="1"/>
          <p:nvPr/>
        </p:nvSpPr>
        <p:spPr>
          <a:xfrm>
            <a:off x="7437119" y="4048125"/>
            <a:ext cx="2518412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100">
                <a:solidFill>
                  <a:srgbClr val="1E3A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repeatable security workflow</a:t>
            </a:r>
          </a:p>
        </p:txBody>
      </p:sp>
      <p:sp>
        <p:nvSpPr>
          <p:cNvPr id="44" name="AuthZ Scanner technical presentation"/>
          <p:cNvSpPr txBox="1"/>
          <p:nvPr/>
        </p:nvSpPr>
        <p:spPr>
          <a:xfrm>
            <a:off x="579119" y="6438900"/>
            <a:ext cx="4290062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AuthZ Scanner technical presentation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03"/>
          <p:cNvSpPr txBox="1"/>
          <p:nvPr/>
        </p:nvSpPr>
        <p:spPr>
          <a:xfrm>
            <a:off x="579119" y="342900"/>
            <a:ext cx="575312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1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9" name="Authentication vs Authorization"/>
          <p:cNvSpPr txBox="1"/>
          <p:nvPr/>
        </p:nvSpPr>
        <p:spPr>
          <a:xfrm>
            <a:off x="579119" y="666750"/>
            <a:ext cx="10195562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3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Authentication vs Authorization</a:t>
            </a:r>
          </a:p>
        </p:txBody>
      </p:sp>
      <p:sp>
        <p:nvSpPr>
          <p:cNvPr id="50" name="Rectangle"/>
          <p:cNvSpPr/>
          <p:nvPr/>
        </p:nvSpPr>
        <p:spPr>
          <a:xfrm>
            <a:off x="533400" y="1276350"/>
            <a:ext cx="1524000" cy="28575"/>
          </a:xfrm>
          <a:prstGeom prst="rect">
            <a:avLst/>
          </a:prstGeom>
          <a:solidFill>
            <a:srgbClr val="2563EB"/>
          </a:solidFill>
          <a:ln w="3175">
            <a:solidFill>
              <a:srgbClr val="2563E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1" name="Rectangle"/>
          <p:cNvSpPr/>
          <p:nvPr/>
        </p:nvSpPr>
        <p:spPr>
          <a:xfrm>
            <a:off x="914400" y="1809750"/>
            <a:ext cx="4572000" cy="2952750"/>
          </a:xfrm>
          <a:prstGeom prst="rect">
            <a:avLst/>
          </a:prstGeom>
          <a:solidFill>
            <a:srgbClr val="EEF6FF"/>
          </a:solidFill>
          <a:ln w="11430">
            <a:solidFill>
              <a:srgbClr val="93C5FD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2" name="Authentication"/>
          <p:cNvSpPr txBox="1"/>
          <p:nvPr/>
        </p:nvSpPr>
        <p:spPr>
          <a:xfrm>
            <a:off x="1131569" y="1962150"/>
            <a:ext cx="413766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1E3A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Authentication</a:t>
            </a:r>
          </a:p>
        </p:txBody>
      </p:sp>
      <p:sp>
        <p:nvSpPr>
          <p:cNvPr id="53" name="Question:…"/>
          <p:cNvSpPr txBox="1"/>
          <p:nvPr/>
        </p:nvSpPr>
        <p:spPr>
          <a:xfrm>
            <a:off x="1131569" y="2343150"/>
            <a:ext cx="4137662" cy="2305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Question:</a:t>
            </a:r>
          </a:p>
          <a:p>
            <a:pPr>
              <a:defRPr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Who are you?</a:t>
            </a:r>
          </a:p>
          <a:p>
            <a:pPr/>
            <a:endParaRPr>
              <a:solidFill>
                <a:srgbClr val="475569"/>
              </a:solidFill>
              <a:latin typeface="Aptos"/>
              <a:ea typeface="Aptos"/>
              <a:cs typeface="Aptos"/>
              <a:sym typeface="Aptos"/>
            </a:endParaRPr>
          </a:p>
          <a:p>
            <a:pPr>
              <a:defRPr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Example:</a:t>
            </a:r>
          </a:p>
          <a:p>
            <a:pPr>
              <a:defRPr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Login, JWT, session</a:t>
            </a:r>
          </a:p>
        </p:txBody>
      </p:sp>
      <p:sp>
        <p:nvSpPr>
          <p:cNvPr id="54" name="Rectangle"/>
          <p:cNvSpPr/>
          <p:nvPr/>
        </p:nvSpPr>
        <p:spPr>
          <a:xfrm>
            <a:off x="6705600" y="1809750"/>
            <a:ext cx="4572000" cy="2952750"/>
          </a:xfrm>
          <a:prstGeom prst="rect">
            <a:avLst/>
          </a:prstGeom>
          <a:solidFill>
            <a:srgbClr val="ECFDF5"/>
          </a:solidFill>
          <a:ln w="11430">
            <a:solidFill>
              <a:srgbClr val="86EFA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5" name="Authorization"/>
          <p:cNvSpPr txBox="1"/>
          <p:nvPr/>
        </p:nvSpPr>
        <p:spPr>
          <a:xfrm>
            <a:off x="6922769" y="1962150"/>
            <a:ext cx="413766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16653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Authorization</a:t>
            </a:r>
          </a:p>
        </p:txBody>
      </p:sp>
      <p:sp>
        <p:nvSpPr>
          <p:cNvPr id="56" name="Question:…"/>
          <p:cNvSpPr txBox="1"/>
          <p:nvPr/>
        </p:nvSpPr>
        <p:spPr>
          <a:xfrm>
            <a:off x="6922769" y="2343150"/>
            <a:ext cx="4137662" cy="2305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Question:</a:t>
            </a:r>
          </a:p>
          <a:p>
            <a:pPr>
              <a:defRPr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What are you allowed to access or modify?</a:t>
            </a:r>
          </a:p>
          <a:p>
            <a:pPr/>
            <a:endParaRPr>
              <a:solidFill>
                <a:srgbClr val="475569"/>
              </a:solidFill>
              <a:latin typeface="Aptos"/>
              <a:ea typeface="Aptos"/>
              <a:cs typeface="Aptos"/>
              <a:sym typeface="Aptos"/>
            </a:endParaRPr>
          </a:p>
          <a:p>
            <a:pPr>
              <a:defRPr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Example:</a:t>
            </a:r>
          </a:p>
          <a:p>
            <a:pPr>
              <a:defRPr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Own order yes, another user's order no</a:t>
            </a:r>
          </a:p>
        </p:txBody>
      </p:sp>
      <p:sp>
        <p:nvSpPr>
          <p:cNvPr id="57" name="→"/>
          <p:cNvSpPr txBox="1"/>
          <p:nvPr/>
        </p:nvSpPr>
        <p:spPr>
          <a:xfrm>
            <a:off x="5741669" y="2952750"/>
            <a:ext cx="689612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21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58" name="AuthZ Scanner technical presentation"/>
          <p:cNvSpPr txBox="1"/>
          <p:nvPr/>
        </p:nvSpPr>
        <p:spPr>
          <a:xfrm>
            <a:off x="579119" y="6438900"/>
            <a:ext cx="4290062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AuthZ Scanner technical presentation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04"/>
          <p:cNvSpPr txBox="1"/>
          <p:nvPr/>
        </p:nvSpPr>
        <p:spPr>
          <a:xfrm>
            <a:off x="579119" y="342900"/>
            <a:ext cx="575312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1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63" name="Authorization Vulnerability Classes"/>
          <p:cNvSpPr txBox="1"/>
          <p:nvPr/>
        </p:nvSpPr>
        <p:spPr>
          <a:xfrm>
            <a:off x="579119" y="666750"/>
            <a:ext cx="10195562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3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Authorization Vulnerability Classes</a:t>
            </a:r>
          </a:p>
        </p:txBody>
      </p:sp>
      <p:sp>
        <p:nvSpPr>
          <p:cNvPr id="64" name="Rectangle"/>
          <p:cNvSpPr/>
          <p:nvPr/>
        </p:nvSpPr>
        <p:spPr>
          <a:xfrm>
            <a:off x="533400" y="1276350"/>
            <a:ext cx="1524000" cy="28575"/>
          </a:xfrm>
          <a:prstGeom prst="rect">
            <a:avLst/>
          </a:prstGeom>
          <a:solidFill>
            <a:srgbClr val="2563EB"/>
          </a:solidFill>
          <a:ln w="3175">
            <a:solidFill>
              <a:srgbClr val="2563E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5" name="Rectangle"/>
          <p:cNvSpPr/>
          <p:nvPr/>
        </p:nvSpPr>
        <p:spPr>
          <a:xfrm>
            <a:off x="1162050" y="1809750"/>
            <a:ext cx="2857500" cy="1181100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6" name="BOLA"/>
          <p:cNvSpPr txBox="1"/>
          <p:nvPr/>
        </p:nvSpPr>
        <p:spPr>
          <a:xfrm>
            <a:off x="1379219" y="1962150"/>
            <a:ext cx="242316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991B1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BOLA</a:t>
            </a:r>
          </a:p>
        </p:txBody>
      </p:sp>
      <p:sp>
        <p:nvSpPr>
          <p:cNvPr id="67" name="Object-level access bypass"/>
          <p:cNvSpPr txBox="1"/>
          <p:nvPr/>
        </p:nvSpPr>
        <p:spPr>
          <a:xfrm>
            <a:off x="1379219" y="2343150"/>
            <a:ext cx="2423162" cy="53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2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Object-level access bypass</a:t>
            </a:r>
          </a:p>
        </p:txBody>
      </p:sp>
      <p:sp>
        <p:nvSpPr>
          <p:cNvPr id="68" name="Rectangle"/>
          <p:cNvSpPr/>
          <p:nvPr/>
        </p:nvSpPr>
        <p:spPr>
          <a:xfrm>
            <a:off x="4543425" y="1809750"/>
            <a:ext cx="2857500" cy="1181100"/>
          </a:xfrm>
          <a:prstGeom prst="rect">
            <a:avLst/>
          </a:prstGeom>
          <a:solidFill>
            <a:srgbClr val="EEF6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9" name="BFLA"/>
          <p:cNvSpPr txBox="1"/>
          <p:nvPr/>
        </p:nvSpPr>
        <p:spPr>
          <a:xfrm>
            <a:off x="4760594" y="1962150"/>
            <a:ext cx="242316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991B1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BFLA</a:t>
            </a:r>
          </a:p>
        </p:txBody>
      </p:sp>
      <p:sp>
        <p:nvSpPr>
          <p:cNvPr id="70" name="Function-level role bypass"/>
          <p:cNvSpPr txBox="1"/>
          <p:nvPr/>
        </p:nvSpPr>
        <p:spPr>
          <a:xfrm>
            <a:off x="4760594" y="2343150"/>
            <a:ext cx="2423162" cy="53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2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Function-level role bypass</a:t>
            </a:r>
          </a:p>
        </p:txBody>
      </p:sp>
      <p:sp>
        <p:nvSpPr>
          <p:cNvPr id="71" name="Rectangle"/>
          <p:cNvSpPr/>
          <p:nvPr/>
        </p:nvSpPr>
        <p:spPr>
          <a:xfrm>
            <a:off x="7924800" y="1809750"/>
            <a:ext cx="2857500" cy="1181100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2" name="Mass Assignment"/>
          <p:cNvSpPr txBox="1"/>
          <p:nvPr/>
        </p:nvSpPr>
        <p:spPr>
          <a:xfrm>
            <a:off x="8141969" y="1962150"/>
            <a:ext cx="242316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1E3A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Mass Assignment</a:t>
            </a:r>
          </a:p>
        </p:txBody>
      </p:sp>
      <p:sp>
        <p:nvSpPr>
          <p:cNvPr id="73" name="Server-controlled fields"/>
          <p:cNvSpPr txBox="1"/>
          <p:nvPr/>
        </p:nvSpPr>
        <p:spPr>
          <a:xfrm>
            <a:off x="8141969" y="2343150"/>
            <a:ext cx="2423162" cy="53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2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Server-controlled fields</a:t>
            </a:r>
          </a:p>
        </p:txBody>
      </p:sp>
      <p:sp>
        <p:nvSpPr>
          <p:cNvPr id="74" name="Rectangle"/>
          <p:cNvSpPr/>
          <p:nvPr/>
        </p:nvSpPr>
        <p:spPr>
          <a:xfrm>
            <a:off x="1162050" y="3429000"/>
            <a:ext cx="2857500" cy="1181100"/>
          </a:xfrm>
          <a:prstGeom prst="rect">
            <a:avLst/>
          </a:prstGeom>
          <a:solidFill>
            <a:srgbClr val="EEF6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5" name="Data Exposure"/>
          <p:cNvSpPr txBox="1"/>
          <p:nvPr/>
        </p:nvSpPr>
        <p:spPr>
          <a:xfrm>
            <a:off x="1379219" y="3581400"/>
            <a:ext cx="242316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1E3A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Data Exposure</a:t>
            </a:r>
          </a:p>
        </p:txBody>
      </p:sp>
      <p:sp>
        <p:nvSpPr>
          <p:cNvPr id="76" name="Sensitive response fields"/>
          <p:cNvSpPr txBox="1"/>
          <p:nvPr/>
        </p:nvSpPr>
        <p:spPr>
          <a:xfrm>
            <a:off x="1379219" y="3962400"/>
            <a:ext cx="2423162" cy="53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2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Sensitive response fields</a:t>
            </a:r>
          </a:p>
        </p:txBody>
      </p:sp>
      <p:sp>
        <p:nvSpPr>
          <p:cNvPr id="77" name="Rectangle"/>
          <p:cNvSpPr/>
          <p:nvPr/>
        </p:nvSpPr>
        <p:spPr>
          <a:xfrm>
            <a:off x="4543425" y="3429000"/>
            <a:ext cx="2857500" cy="1181100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8" name="Unauthenticated"/>
          <p:cNvSpPr txBox="1"/>
          <p:nvPr/>
        </p:nvSpPr>
        <p:spPr>
          <a:xfrm>
            <a:off x="4760594" y="3581400"/>
            <a:ext cx="242316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1E3A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Unauthenticated</a:t>
            </a:r>
          </a:p>
        </p:txBody>
      </p:sp>
      <p:sp>
        <p:nvSpPr>
          <p:cNvPr id="79" name="Missing auth enforcement"/>
          <p:cNvSpPr txBox="1"/>
          <p:nvPr/>
        </p:nvSpPr>
        <p:spPr>
          <a:xfrm>
            <a:off x="4760594" y="3962400"/>
            <a:ext cx="2423162" cy="53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2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Missing auth enforcement</a:t>
            </a:r>
          </a:p>
        </p:txBody>
      </p:sp>
      <p:sp>
        <p:nvSpPr>
          <p:cNvPr id="80" name="Rectangle"/>
          <p:cNvSpPr/>
          <p:nvPr/>
        </p:nvSpPr>
        <p:spPr>
          <a:xfrm>
            <a:off x="7924800" y="3429000"/>
            <a:ext cx="2857500" cy="1181100"/>
          </a:xfrm>
          <a:prstGeom prst="rect">
            <a:avLst/>
          </a:prstGeom>
          <a:solidFill>
            <a:srgbClr val="EEF6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81" name="Body Mismatch"/>
          <p:cNvSpPr txBox="1"/>
          <p:nvPr/>
        </p:nvSpPr>
        <p:spPr>
          <a:xfrm>
            <a:off x="8141969" y="3581400"/>
            <a:ext cx="242316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1E3A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Body Mismatch</a:t>
            </a:r>
          </a:p>
        </p:txBody>
      </p:sp>
      <p:sp>
        <p:nvSpPr>
          <p:cNvPr id="82" name="Response contract violation"/>
          <p:cNvSpPr txBox="1"/>
          <p:nvPr/>
        </p:nvSpPr>
        <p:spPr>
          <a:xfrm>
            <a:off x="8141969" y="3962400"/>
            <a:ext cx="2423162" cy="53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2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Response contract violation</a:t>
            </a:r>
          </a:p>
        </p:txBody>
      </p:sp>
      <p:sp>
        <p:nvSpPr>
          <p:cNvPr id="83" name="AuthZ Scanner technical presentation"/>
          <p:cNvSpPr txBox="1"/>
          <p:nvPr/>
        </p:nvSpPr>
        <p:spPr>
          <a:xfrm>
            <a:off x="579119" y="6438900"/>
            <a:ext cx="4290062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AuthZ Scanner technical presentation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05"/>
          <p:cNvSpPr txBox="1"/>
          <p:nvPr/>
        </p:nvSpPr>
        <p:spPr>
          <a:xfrm>
            <a:off x="579119" y="342900"/>
            <a:ext cx="575312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1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88" name="Project Objective"/>
          <p:cNvSpPr txBox="1"/>
          <p:nvPr/>
        </p:nvSpPr>
        <p:spPr>
          <a:xfrm>
            <a:off x="579119" y="666750"/>
            <a:ext cx="10195562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3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Project Objective</a:t>
            </a:r>
          </a:p>
        </p:txBody>
      </p:sp>
      <p:sp>
        <p:nvSpPr>
          <p:cNvPr id="89" name="Rectangle"/>
          <p:cNvSpPr/>
          <p:nvPr/>
        </p:nvSpPr>
        <p:spPr>
          <a:xfrm>
            <a:off x="533400" y="1276350"/>
            <a:ext cx="1524000" cy="28575"/>
          </a:xfrm>
          <a:prstGeom prst="rect">
            <a:avLst/>
          </a:prstGeom>
          <a:solidFill>
            <a:srgbClr val="2563EB"/>
          </a:solidFill>
          <a:ln w="3175">
            <a:solidFill>
              <a:srgbClr val="2563E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90" name="• Authenticate multiple test identities…"/>
          <p:cNvSpPr txBox="1"/>
          <p:nvPr/>
        </p:nvSpPr>
        <p:spPr>
          <a:xfrm>
            <a:off x="750569" y="1752600"/>
            <a:ext cx="5052062" cy="409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Authenticate multiple test identities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Test role and ownership rules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Compare expected and observed API behavior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Generate reports with evidence and remediation</a:t>
            </a:r>
          </a:p>
        </p:txBody>
      </p:sp>
      <p:sp>
        <p:nvSpPr>
          <p:cNvPr id="91" name="Rectangle"/>
          <p:cNvSpPr/>
          <p:nvPr/>
        </p:nvSpPr>
        <p:spPr>
          <a:xfrm>
            <a:off x="6572250" y="1676400"/>
            <a:ext cx="4000500" cy="400050"/>
          </a:xfrm>
          <a:prstGeom prst="rect">
            <a:avLst/>
          </a:prstGeom>
          <a:solidFill>
            <a:srgbClr val="EEF6FF"/>
          </a:solidFill>
          <a:ln w="3175">
            <a:solidFill>
              <a:srgbClr val="EEF6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92" name="1. Authenticate identities"/>
          <p:cNvSpPr txBox="1"/>
          <p:nvPr/>
        </p:nvSpPr>
        <p:spPr>
          <a:xfrm>
            <a:off x="6694169" y="1724025"/>
            <a:ext cx="375666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300">
                <a:solidFill>
                  <a:srgbClr val="1E3A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1. Authenticate identities</a:t>
            </a:r>
          </a:p>
        </p:txBody>
      </p:sp>
      <p:sp>
        <p:nvSpPr>
          <p:cNvPr id="93" name="Rectangle"/>
          <p:cNvSpPr/>
          <p:nvPr/>
        </p:nvSpPr>
        <p:spPr>
          <a:xfrm>
            <a:off x="6572250" y="2286000"/>
            <a:ext cx="4000500" cy="400050"/>
          </a:xfrm>
          <a:prstGeom prst="rect">
            <a:avLst/>
          </a:prstGeom>
          <a:solidFill>
            <a:srgbClr val="EEF6FF"/>
          </a:solidFill>
          <a:ln w="3175">
            <a:solidFill>
              <a:srgbClr val="EEF6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94" name="2. Test role boundaries"/>
          <p:cNvSpPr txBox="1"/>
          <p:nvPr/>
        </p:nvSpPr>
        <p:spPr>
          <a:xfrm>
            <a:off x="6694169" y="2333625"/>
            <a:ext cx="375666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300">
                <a:solidFill>
                  <a:srgbClr val="1E3A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2. Test role boundaries</a:t>
            </a:r>
          </a:p>
        </p:txBody>
      </p:sp>
      <p:sp>
        <p:nvSpPr>
          <p:cNvPr id="95" name="Rectangle"/>
          <p:cNvSpPr/>
          <p:nvPr/>
        </p:nvSpPr>
        <p:spPr>
          <a:xfrm>
            <a:off x="6572250" y="2895600"/>
            <a:ext cx="4000500" cy="400050"/>
          </a:xfrm>
          <a:prstGeom prst="rect">
            <a:avLst/>
          </a:prstGeom>
          <a:solidFill>
            <a:srgbClr val="EEF6FF"/>
          </a:solidFill>
          <a:ln w="3175">
            <a:solidFill>
              <a:srgbClr val="EEF6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96" name="3. Test ownership rules"/>
          <p:cNvSpPr txBox="1"/>
          <p:nvPr/>
        </p:nvSpPr>
        <p:spPr>
          <a:xfrm>
            <a:off x="6694169" y="2943225"/>
            <a:ext cx="375666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300">
                <a:solidFill>
                  <a:srgbClr val="1E3A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3. Test ownership rules</a:t>
            </a:r>
          </a:p>
        </p:txBody>
      </p:sp>
      <p:sp>
        <p:nvSpPr>
          <p:cNvPr id="97" name="Rectangle"/>
          <p:cNvSpPr/>
          <p:nvPr/>
        </p:nvSpPr>
        <p:spPr>
          <a:xfrm>
            <a:off x="6572250" y="3505200"/>
            <a:ext cx="4000500" cy="400050"/>
          </a:xfrm>
          <a:prstGeom prst="rect">
            <a:avLst/>
          </a:prstGeom>
          <a:solidFill>
            <a:srgbClr val="EEF6FF"/>
          </a:solidFill>
          <a:ln w="3175">
            <a:solidFill>
              <a:srgbClr val="EEF6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98" name="4. Compare behavior"/>
          <p:cNvSpPr txBox="1"/>
          <p:nvPr/>
        </p:nvSpPr>
        <p:spPr>
          <a:xfrm>
            <a:off x="6694169" y="3552825"/>
            <a:ext cx="375666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300">
                <a:solidFill>
                  <a:srgbClr val="1E3A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4. Compare behavior</a:t>
            </a:r>
          </a:p>
        </p:txBody>
      </p:sp>
      <p:sp>
        <p:nvSpPr>
          <p:cNvPr id="99" name="Rectangle"/>
          <p:cNvSpPr/>
          <p:nvPr/>
        </p:nvSpPr>
        <p:spPr>
          <a:xfrm>
            <a:off x="6572250" y="4114800"/>
            <a:ext cx="4000500" cy="400050"/>
          </a:xfrm>
          <a:prstGeom prst="rect">
            <a:avLst/>
          </a:prstGeom>
          <a:solidFill>
            <a:srgbClr val="ECFDF5"/>
          </a:solidFill>
          <a:ln w="3175">
            <a:solidFill>
              <a:srgbClr val="ECFDF5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00" name="5. Generate pentest reports"/>
          <p:cNvSpPr txBox="1"/>
          <p:nvPr/>
        </p:nvSpPr>
        <p:spPr>
          <a:xfrm>
            <a:off x="6694169" y="4162425"/>
            <a:ext cx="375666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300">
                <a:solidFill>
                  <a:srgbClr val="16653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5. Generate pentest reports</a:t>
            </a:r>
          </a:p>
        </p:txBody>
      </p:sp>
      <p:sp>
        <p:nvSpPr>
          <p:cNvPr id="101" name="AuthZ Scanner technical presentation"/>
          <p:cNvSpPr txBox="1"/>
          <p:nvPr/>
        </p:nvSpPr>
        <p:spPr>
          <a:xfrm>
            <a:off x="579119" y="6438900"/>
            <a:ext cx="4290062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AuthZ Scanner technical presentation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06"/>
          <p:cNvSpPr txBox="1"/>
          <p:nvPr/>
        </p:nvSpPr>
        <p:spPr>
          <a:xfrm>
            <a:off x="579119" y="342900"/>
            <a:ext cx="575312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1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06" name="High-Level Architecture"/>
          <p:cNvSpPr txBox="1"/>
          <p:nvPr/>
        </p:nvSpPr>
        <p:spPr>
          <a:xfrm>
            <a:off x="579119" y="666750"/>
            <a:ext cx="10195562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3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High-Level Architecture</a:t>
            </a:r>
          </a:p>
        </p:txBody>
      </p:sp>
      <p:sp>
        <p:nvSpPr>
          <p:cNvPr id="107" name="Rectangle"/>
          <p:cNvSpPr/>
          <p:nvPr/>
        </p:nvSpPr>
        <p:spPr>
          <a:xfrm>
            <a:off x="533400" y="1276350"/>
            <a:ext cx="1524000" cy="28575"/>
          </a:xfrm>
          <a:prstGeom prst="rect">
            <a:avLst/>
          </a:prstGeom>
          <a:solidFill>
            <a:srgbClr val="2563EB"/>
          </a:solidFill>
          <a:ln w="3175">
            <a:solidFill>
              <a:srgbClr val="2563E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08" name="• YAML config defines the target and test rules…"/>
          <p:cNvSpPr txBox="1"/>
          <p:nvPr/>
        </p:nvSpPr>
        <p:spPr>
          <a:xfrm>
            <a:off x="750569" y="1752600"/>
            <a:ext cx="5052062" cy="409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YAML config defines the target and test rules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Identity manager prepares authenticated users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Scanner modules create authorization checks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Reports convert findings into pentest evidence</a:t>
            </a:r>
          </a:p>
        </p:txBody>
      </p:sp>
      <p:sp>
        <p:nvSpPr>
          <p:cNvPr id="109" name="Rectangle"/>
          <p:cNvSpPr/>
          <p:nvPr/>
        </p:nvSpPr>
        <p:spPr>
          <a:xfrm>
            <a:off x="6286500" y="1638300"/>
            <a:ext cx="4953000" cy="523875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10" name="YAML Config"/>
          <p:cNvSpPr txBox="1"/>
          <p:nvPr/>
        </p:nvSpPr>
        <p:spPr>
          <a:xfrm>
            <a:off x="6503669" y="1790700"/>
            <a:ext cx="451866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YAML Config</a:t>
            </a:r>
          </a:p>
        </p:txBody>
      </p:sp>
      <p:sp>
        <p:nvSpPr>
          <p:cNvPr id="111" name="↓"/>
          <p:cNvSpPr txBox="1"/>
          <p:nvPr/>
        </p:nvSpPr>
        <p:spPr>
          <a:xfrm>
            <a:off x="8618219" y="2143125"/>
            <a:ext cx="289562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1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112" name="Rectangle"/>
          <p:cNvSpPr/>
          <p:nvPr/>
        </p:nvSpPr>
        <p:spPr>
          <a:xfrm>
            <a:off x="6286500" y="2276475"/>
            <a:ext cx="4953000" cy="523875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13" name="Identity Manager"/>
          <p:cNvSpPr txBox="1"/>
          <p:nvPr/>
        </p:nvSpPr>
        <p:spPr>
          <a:xfrm>
            <a:off x="6503669" y="2428875"/>
            <a:ext cx="451866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Identity Manager</a:t>
            </a:r>
          </a:p>
        </p:txBody>
      </p:sp>
      <p:sp>
        <p:nvSpPr>
          <p:cNvPr id="114" name="↓"/>
          <p:cNvSpPr txBox="1"/>
          <p:nvPr/>
        </p:nvSpPr>
        <p:spPr>
          <a:xfrm>
            <a:off x="8618219" y="2781300"/>
            <a:ext cx="289562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1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115" name="Rectangle"/>
          <p:cNvSpPr/>
          <p:nvPr/>
        </p:nvSpPr>
        <p:spPr>
          <a:xfrm>
            <a:off x="6286500" y="2914650"/>
            <a:ext cx="4953000" cy="523875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16" name="Scanner Modules"/>
          <p:cNvSpPr txBox="1"/>
          <p:nvPr/>
        </p:nvSpPr>
        <p:spPr>
          <a:xfrm>
            <a:off x="6503669" y="3067050"/>
            <a:ext cx="451866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Scanner Modules</a:t>
            </a:r>
          </a:p>
        </p:txBody>
      </p:sp>
      <p:sp>
        <p:nvSpPr>
          <p:cNvPr id="117" name="↓"/>
          <p:cNvSpPr txBox="1"/>
          <p:nvPr/>
        </p:nvSpPr>
        <p:spPr>
          <a:xfrm>
            <a:off x="8618219" y="3419475"/>
            <a:ext cx="289562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1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118" name="Rectangle"/>
          <p:cNvSpPr/>
          <p:nvPr/>
        </p:nvSpPr>
        <p:spPr>
          <a:xfrm>
            <a:off x="6286500" y="3552825"/>
            <a:ext cx="4953000" cy="523875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19" name="HTTP Executor"/>
          <p:cNvSpPr txBox="1"/>
          <p:nvPr/>
        </p:nvSpPr>
        <p:spPr>
          <a:xfrm>
            <a:off x="6503669" y="3705225"/>
            <a:ext cx="451866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HTTP Executor</a:t>
            </a:r>
          </a:p>
        </p:txBody>
      </p:sp>
      <p:sp>
        <p:nvSpPr>
          <p:cNvPr id="120" name="↓"/>
          <p:cNvSpPr txBox="1"/>
          <p:nvPr/>
        </p:nvSpPr>
        <p:spPr>
          <a:xfrm>
            <a:off x="8618219" y="4057650"/>
            <a:ext cx="289562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1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121" name="Rectangle"/>
          <p:cNvSpPr/>
          <p:nvPr/>
        </p:nvSpPr>
        <p:spPr>
          <a:xfrm>
            <a:off x="6286500" y="4191000"/>
            <a:ext cx="4953000" cy="523875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22" name="Finding + Evidence"/>
          <p:cNvSpPr txBox="1"/>
          <p:nvPr/>
        </p:nvSpPr>
        <p:spPr>
          <a:xfrm>
            <a:off x="6503669" y="4343400"/>
            <a:ext cx="451866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Finding + Evidence</a:t>
            </a:r>
          </a:p>
        </p:txBody>
      </p:sp>
      <p:sp>
        <p:nvSpPr>
          <p:cNvPr id="123" name="↓"/>
          <p:cNvSpPr txBox="1"/>
          <p:nvPr/>
        </p:nvSpPr>
        <p:spPr>
          <a:xfrm>
            <a:off x="8618219" y="4695825"/>
            <a:ext cx="289562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1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124" name="Rectangle"/>
          <p:cNvSpPr/>
          <p:nvPr/>
        </p:nvSpPr>
        <p:spPr>
          <a:xfrm>
            <a:off x="6286500" y="4829175"/>
            <a:ext cx="4953000" cy="523875"/>
          </a:xfrm>
          <a:prstGeom prst="rect">
            <a:avLst/>
          </a:prstGeom>
          <a:solidFill>
            <a:srgbClr val="ECFDF5"/>
          </a:solidFill>
          <a:ln w="11430">
            <a:solidFill>
              <a:srgbClr val="86EFA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25" name="Reports"/>
          <p:cNvSpPr txBox="1"/>
          <p:nvPr/>
        </p:nvSpPr>
        <p:spPr>
          <a:xfrm>
            <a:off x="6503669" y="4981575"/>
            <a:ext cx="451866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16653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Reports</a:t>
            </a:r>
          </a:p>
        </p:txBody>
      </p:sp>
      <p:sp>
        <p:nvSpPr>
          <p:cNvPr id="126" name="AuthZ Scanner technical presentation"/>
          <p:cNvSpPr txBox="1"/>
          <p:nvPr/>
        </p:nvSpPr>
        <p:spPr>
          <a:xfrm>
            <a:off x="579119" y="6438900"/>
            <a:ext cx="4290062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AuthZ Scanner technical presentation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07"/>
          <p:cNvSpPr txBox="1"/>
          <p:nvPr/>
        </p:nvSpPr>
        <p:spPr>
          <a:xfrm>
            <a:off x="579119" y="342900"/>
            <a:ext cx="575312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1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131" name="Repository Structure"/>
          <p:cNvSpPr txBox="1"/>
          <p:nvPr/>
        </p:nvSpPr>
        <p:spPr>
          <a:xfrm>
            <a:off x="579119" y="666750"/>
            <a:ext cx="10195562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3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Repository Structure</a:t>
            </a:r>
          </a:p>
        </p:txBody>
      </p:sp>
      <p:sp>
        <p:nvSpPr>
          <p:cNvPr id="132" name="Rectangle"/>
          <p:cNvSpPr/>
          <p:nvPr/>
        </p:nvSpPr>
        <p:spPr>
          <a:xfrm>
            <a:off x="533400" y="1276350"/>
            <a:ext cx="1524000" cy="28575"/>
          </a:xfrm>
          <a:prstGeom prst="rect">
            <a:avLst/>
          </a:prstGeom>
          <a:solidFill>
            <a:srgbClr val="2563EB"/>
          </a:solidFill>
          <a:ln w="3175">
            <a:solidFill>
              <a:srgbClr val="2563E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33" name="• apps: vulnerable and hardened API lab…"/>
          <p:cNvSpPr txBox="1"/>
          <p:nvPr/>
        </p:nvSpPr>
        <p:spPr>
          <a:xfrm>
            <a:off x="750569" y="1752600"/>
            <a:ext cx="5052062" cy="409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apps: vulnerable and hardened API lab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scanner: core, modules, reporting and discovery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config: YAML scan definitions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tests and reports support validation and output</a:t>
            </a:r>
          </a:p>
        </p:txBody>
      </p:sp>
      <p:sp>
        <p:nvSpPr>
          <p:cNvPr id="134" name="Rectangle"/>
          <p:cNvSpPr txBox="1"/>
          <p:nvPr/>
        </p:nvSpPr>
        <p:spPr>
          <a:xfrm>
            <a:off x="5699826" y="549760"/>
            <a:ext cx="5740045" cy="6198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ctr" defTabSz="365760">
              <a:defRPr b="1" sz="720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defRPr>
            </a:pPr>
          </a:p>
        </p:txBody>
      </p:sp>
      <p:pic>
        <p:nvPicPr>
          <p:cNvPr id="135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699826" y="549760"/>
            <a:ext cx="3149176" cy="6106034"/>
          </a:xfrm>
          <a:prstGeom prst="rect">
            <a:avLst/>
          </a:prstGeom>
          <a:ln w="12700">
            <a:miter lim="400000"/>
          </a:ln>
        </p:spPr>
      </p:pic>
      <p:sp>
        <p:nvSpPr>
          <p:cNvPr id="136" name="AuthZ Scanner technical presentation"/>
          <p:cNvSpPr txBox="1"/>
          <p:nvPr/>
        </p:nvSpPr>
        <p:spPr>
          <a:xfrm>
            <a:off x="579119" y="6438900"/>
            <a:ext cx="4290062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AuthZ Scanner technical presentation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08"/>
          <p:cNvSpPr txBox="1"/>
          <p:nvPr/>
        </p:nvSpPr>
        <p:spPr>
          <a:xfrm>
            <a:off x="579119" y="342900"/>
            <a:ext cx="575312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1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141" name="Demo API Lab"/>
          <p:cNvSpPr txBox="1"/>
          <p:nvPr/>
        </p:nvSpPr>
        <p:spPr>
          <a:xfrm>
            <a:off x="579119" y="666750"/>
            <a:ext cx="10195562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3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Demo API Lab</a:t>
            </a:r>
          </a:p>
        </p:txBody>
      </p:sp>
      <p:sp>
        <p:nvSpPr>
          <p:cNvPr id="142" name="Rectangle"/>
          <p:cNvSpPr/>
          <p:nvPr/>
        </p:nvSpPr>
        <p:spPr>
          <a:xfrm>
            <a:off x="533400" y="1276350"/>
            <a:ext cx="1524000" cy="28575"/>
          </a:xfrm>
          <a:prstGeom prst="rect">
            <a:avLst/>
          </a:prstGeom>
          <a:solidFill>
            <a:srgbClr val="2563EB"/>
          </a:solidFill>
          <a:ln w="3175">
            <a:solidFill>
              <a:srgbClr val="2563E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43" name="• vulnerable_api contains intentional authorization weaknesses…"/>
          <p:cNvSpPr txBox="1"/>
          <p:nvPr/>
        </p:nvSpPr>
        <p:spPr>
          <a:xfrm>
            <a:off x="750569" y="1752600"/>
            <a:ext cx="5052062" cy="409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vulnerable_api contains intentional authorization weaknesses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hardened_api implements the same surface with protections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The same scanner can run against both targets</a:t>
            </a:r>
          </a:p>
        </p:txBody>
      </p:sp>
      <p:sp>
        <p:nvSpPr>
          <p:cNvPr id="144" name="Rectangle"/>
          <p:cNvSpPr/>
          <p:nvPr/>
        </p:nvSpPr>
        <p:spPr>
          <a:xfrm>
            <a:off x="6343650" y="2114550"/>
            <a:ext cx="2190750" cy="1619250"/>
          </a:xfrm>
          <a:prstGeom prst="rect">
            <a:avLst/>
          </a:prstGeom>
          <a:solidFill>
            <a:srgbClr val="FEF2F2"/>
          </a:solidFill>
          <a:ln w="11430">
            <a:solidFill>
              <a:srgbClr val="FCA5A5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45" name="vulnerable_api"/>
          <p:cNvSpPr txBox="1"/>
          <p:nvPr/>
        </p:nvSpPr>
        <p:spPr>
          <a:xfrm>
            <a:off x="6560819" y="2266950"/>
            <a:ext cx="175641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991B1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vulnerable_api</a:t>
            </a:r>
          </a:p>
        </p:txBody>
      </p:sp>
      <p:sp>
        <p:nvSpPr>
          <p:cNvPr id="146" name="Same API surface…"/>
          <p:cNvSpPr txBox="1"/>
          <p:nvPr/>
        </p:nvSpPr>
        <p:spPr>
          <a:xfrm>
            <a:off x="6560819" y="2647950"/>
            <a:ext cx="1756412" cy="971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10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Same API surface</a:t>
            </a:r>
          </a:p>
          <a:p>
            <a:pPr>
              <a:defRPr sz="10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Intentional authorization weaknesses</a:t>
            </a:r>
          </a:p>
          <a:p>
            <a:pPr>
              <a:defRPr sz="10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Expected to produce findings</a:t>
            </a:r>
          </a:p>
        </p:txBody>
      </p:sp>
      <p:sp>
        <p:nvSpPr>
          <p:cNvPr id="147" name="Rectangle"/>
          <p:cNvSpPr/>
          <p:nvPr/>
        </p:nvSpPr>
        <p:spPr>
          <a:xfrm>
            <a:off x="8915400" y="2114550"/>
            <a:ext cx="2190750" cy="1619250"/>
          </a:xfrm>
          <a:prstGeom prst="rect">
            <a:avLst/>
          </a:prstGeom>
          <a:solidFill>
            <a:srgbClr val="ECFDF5"/>
          </a:solidFill>
          <a:ln w="11430">
            <a:solidFill>
              <a:srgbClr val="86EFA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48" name="hardened_api"/>
          <p:cNvSpPr txBox="1"/>
          <p:nvPr/>
        </p:nvSpPr>
        <p:spPr>
          <a:xfrm>
            <a:off x="9132569" y="2266950"/>
            <a:ext cx="175641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16653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hardened_api</a:t>
            </a:r>
          </a:p>
        </p:txBody>
      </p:sp>
      <p:sp>
        <p:nvSpPr>
          <p:cNvPr id="149" name="Same API surface…"/>
          <p:cNvSpPr txBox="1"/>
          <p:nvPr/>
        </p:nvSpPr>
        <p:spPr>
          <a:xfrm>
            <a:off x="9132569" y="2647950"/>
            <a:ext cx="1756412" cy="971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Same API surface</a:t>
            </a:r>
          </a:p>
          <a:p>
            <a:pPr>
              <a:defRPr sz="13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Authorization checks enforced</a:t>
            </a:r>
          </a:p>
          <a:p>
            <a:pPr>
              <a:defRPr sz="13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Expected 0 findings</a:t>
            </a:r>
          </a:p>
        </p:txBody>
      </p:sp>
      <p:sp>
        <p:nvSpPr>
          <p:cNvPr id="150" name="Rectangle"/>
          <p:cNvSpPr/>
          <p:nvPr/>
        </p:nvSpPr>
        <p:spPr>
          <a:xfrm>
            <a:off x="7239000" y="4191000"/>
            <a:ext cx="3048000" cy="361950"/>
          </a:xfrm>
          <a:prstGeom prst="rect">
            <a:avLst/>
          </a:prstGeom>
          <a:solidFill>
            <a:srgbClr val="EEF6FF"/>
          </a:solidFill>
          <a:ln w="3175">
            <a:solidFill>
              <a:srgbClr val="EEF6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51" name="controlled lab for scanner validation"/>
          <p:cNvSpPr txBox="1"/>
          <p:nvPr/>
        </p:nvSpPr>
        <p:spPr>
          <a:xfrm>
            <a:off x="7360919" y="4238625"/>
            <a:ext cx="2804162" cy="28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100">
                <a:solidFill>
                  <a:srgbClr val="1E3A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controlled lab for scanner validation</a:t>
            </a:r>
          </a:p>
        </p:txBody>
      </p:sp>
      <p:sp>
        <p:nvSpPr>
          <p:cNvPr id="152" name="AuthZ Scanner technical presentation"/>
          <p:cNvSpPr txBox="1"/>
          <p:nvPr/>
        </p:nvSpPr>
        <p:spPr>
          <a:xfrm>
            <a:off x="579119" y="6438900"/>
            <a:ext cx="4290062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AuthZ Scanner technical presentation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09"/>
          <p:cNvSpPr txBox="1"/>
          <p:nvPr/>
        </p:nvSpPr>
        <p:spPr>
          <a:xfrm>
            <a:off x="579119" y="342900"/>
            <a:ext cx="575312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1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09</a:t>
            </a:r>
          </a:p>
        </p:txBody>
      </p:sp>
      <p:sp>
        <p:nvSpPr>
          <p:cNvPr id="157" name="Vulnerable vs Hardened API Design"/>
          <p:cNvSpPr txBox="1"/>
          <p:nvPr/>
        </p:nvSpPr>
        <p:spPr>
          <a:xfrm>
            <a:off x="579119" y="666750"/>
            <a:ext cx="10195562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3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Vulnerable vs Hardened API Design</a:t>
            </a:r>
          </a:p>
        </p:txBody>
      </p:sp>
      <p:sp>
        <p:nvSpPr>
          <p:cNvPr id="158" name="Rectangle"/>
          <p:cNvSpPr/>
          <p:nvPr/>
        </p:nvSpPr>
        <p:spPr>
          <a:xfrm>
            <a:off x="533400" y="1276350"/>
            <a:ext cx="1524000" cy="28575"/>
          </a:xfrm>
          <a:prstGeom prst="rect">
            <a:avLst/>
          </a:prstGeom>
          <a:solidFill>
            <a:srgbClr val="2563EB"/>
          </a:solidFill>
          <a:ln w="3175">
            <a:solidFill>
              <a:srgbClr val="2563E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59" name="• Same endpoints…"/>
          <p:cNvSpPr txBox="1"/>
          <p:nvPr/>
        </p:nvSpPr>
        <p:spPr>
          <a:xfrm>
            <a:off x="750569" y="1752600"/>
            <a:ext cx="5052062" cy="409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Same endpoints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Same roles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Same domain model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Different authorization behavior</a:t>
            </a:r>
          </a:p>
        </p:txBody>
      </p:sp>
      <p:sp>
        <p:nvSpPr>
          <p:cNvPr id="160" name="Rectangle"/>
          <p:cNvSpPr/>
          <p:nvPr/>
        </p:nvSpPr>
        <p:spPr>
          <a:xfrm>
            <a:off x="6305550" y="2000250"/>
            <a:ext cx="2095500" cy="2000250"/>
          </a:xfrm>
          <a:prstGeom prst="rect">
            <a:avLst/>
          </a:prstGeom>
          <a:solidFill>
            <a:srgbClr val="EEF6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61" name="Same Surface"/>
          <p:cNvSpPr txBox="1"/>
          <p:nvPr/>
        </p:nvSpPr>
        <p:spPr>
          <a:xfrm>
            <a:off x="6522719" y="2152650"/>
            <a:ext cx="166116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1E3A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Same Surface</a:t>
            </a:r>
          </a:p>
        </p:txBody>
      </p:sp>
      <p:sp>
        <p:nvSpPr>
          <p:cNvPr id="162" name="Endpoints…"/>
          <p:cNvSpPr txBox="1"/>
          <p:nvPr/>
        </p:nvSpPr>
        <p:spPr>
          <a:xfrm>
            <a:off x="6522719" y="2533650"/>
            <a:ext cx="1661162" cy="1352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15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Endpoints</a:t>
            </a:r>
          </a:p>
          <a:p>
            <a:pPr>
              <a:defRPr sz="15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Roles</a:t>
            </a:r>
          </a:p>
          <a:p>
            <a:pPr>
              <a:defRPr sz="15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Domain model</a:t>
            </a:r>
          </a:p>
          <a:p>
            <a:pPr>
              <a:defRPr sz="15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Config structure</a:t>
            </a:r>
          </a:p>
        </p:txBody>
      </p:sp>
      <p:sp>
        <p:nvSpPr>
          <p:cNvPr id="163" name="→"/>
          <p:cNvSpPr txBox="1"/>
          <p:nvPr/>
        </p:nvSpPr>
        <p:spPr>
          <a:xfrm>
            <a:off x="8580119" y="2781300"/>
            <a:ext cx="461012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21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64" name="Rectangle"/>
          <p:cNvSpPr/>
          <p:nvPr/>
        </p:nvSpPr>
        <p:spPr>
          <a:xfrm>
            <a:off x="9124950" y="2000250"/>
            <a:ext cx="2095500" cy="2000250"/>
          </a:xfrm>
          <a:prstGeom prst="rect">
            <a:avLst/>
          </a:prstGeom>
          <a:solidFill>
            <a:srgbClr val="FEF2F2"/>
          </a:solidFill>
          <a:ln w="11430">
            <a:solidFill>
              <a:srgbClr val="FCA5A5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65" name="Different Behavior"/>
          <p:cNvSpPr txBox="1"/>
          <p:nvPr/>
        </p:nvSpPr>
        <p:spPr>
          <a:xfrm>
            <a:off x="9342119" y="2152650"/>
            <a:ext cx="166116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991B1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Different Behavior</a:t>
            </a:r>
          </a:p>
        </p:txBody>
      </p:sp>
      <p:sp>
        <p:nvSpPr>
          <p:cNvPr id="166" name="Vulnerable allows bypasses…"/>
          <p:cNvSpPr txBox="1"/>
          <p:nvPr/>
        </p:nvSpPr>
        <p:spPr>
          <a:xfrm>
            <a:off x="9342119" y="2533650"/>
            <a:ext cx="1661162" cy="1352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Vulnerable allows bypasses</a:t>
            </a:r>
          </a:p>
          <a:p>
            <a:pPr>
              <a:defRPr sz="13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Hardened blocks them</a:t>
            </a:r>
          </a:p>
          <a:p>
            <a:pPr>
              <a:defRPr sz="13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Scanner compares outcomes</a:t>
            </a:r>
          </a:p>
        </p:txBody>
      </p:sp>
      <p:sp>
        <p:nvSpPr>
          <p:cNvPr id="167" name="AuthZ Scanner technical presentation"/>
          <p:cNvSpPr txBox="1"/>
          <p:nvPr/>
        </p:nvSpPr>
        <p:spPr>
          <a:xfrm>
            <a:off x="579119" y="6438900"/>
            <a:ext cx="4290062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AuthZ Scanner technical presentation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10"/>
          <p:cNvSpPr txBox="1"/>
          <p:nvPr/>
        </p:nvSpPr>
        <p:spPr>
          <a:xfrm>
            <a:off x="579119" y="342900"/>
            <a:ext cx="575312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1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72" name="Domain and Role Model"/>
          <p:cNvSpPr txBox="1"/>
          <p:nvPr/>
        </p:nvSpPr>
        <p:spPr>
          <a:xfrm>
            <a:off x="579119" y="666750"/>
            <a:ext cx="10195562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3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Domain and Role Model</a:t>
            </a:r>
          </a:p>
        </p:txBody>
      </p:sp>
      <p:sp>
        <p:nvSpPr>
          <p:cNvPr id="173" name="Rectangle"/>
          <p:cNvSpPr/>
          <p:nvPr/>
        </p:nvSpPr>
        <p:spPr>
          <a:xfrm>
            <a:off x="533400" y="1276350"/>
            <a:ext cx="1524000" cy="28575"/>
          </a:xfrm>
          <a:prstGeom prst="rect">
            <a:avLst/>
          </a:prstGeom>
          <a:solidFill>
            <a:srgbClr val="2563EB"/>
          </a:solidFill>
          <a:ln w="3175">
            <a:solidFill>
              <a:srgbClr val="2563E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74" name="• Domain objects: users, orders, order items, invoices, organizations and support tickets…"/>
          <p:cNvSpPr txBox="1"/>
          <p:nvPr/>
        </p:nvSpPr>
        <p:spPr>
          <a:xfrm>
            <a:off x="750569" y="1752600"/>
            <a:ext cx="5052062" cy="409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Domain objects: users, orders, order items, invoices, organizations and support tickets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Roles: customer, support, manager and admin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The lab supports ownership, tenant and workflow-style scenarios</a:t>
            </a:r>
          </a:p>
        </p:txBody>
      </p:sp>
      <p:sp>
        <p:nvSpPr>
          <p:cNvPr id="175" name="Rectangle"/>
          <p:cNvSpPr/>
          <p:nvPr/>
        </p:nvSpPr>
        <p:spPr>
          <a:xfrm>
            <a:off x="6096000" y="1666875"/>
            <a:ext cx="2524125" cy="3238500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76" name="Domain Entities"/>
          <p:cNvSpPr txBox="1"/>
          <p:nvPr/>
        </p:nvSpPr>
        <p:spPr>
          <a:xfrm>
            <a:off x="6313169" y="1819275"/>
            <a:ext cx="2089787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Domain Entities</a:t>
            </a:r>
          </a:p>
        </p:txBody>
      </p:sp>
      <p:sp>
        <p:nvSpPr>
          <p:cNvPr id="177" name="Users…"/>
          <p:cNvSpPr txBox="1"/>
          <p:nvPr/>
        </p:nvSpPr>
        <p:spPr>
          <a:xfrm>
            <a:off x="6313169" y="2200275"/>
            <a:ext cx="2089787" cy="259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Users</a:t>
            </a:r>
          </a:p>
          <a:p>
            <a:pPr>
              <a:defRPr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Orders</a:t>
            </a:r>
          </a:p>
          <a:p>
            <a:pPr>
              <a:defRPr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Order Items</a:t>
            </a:r>
          </a:p>
          <a:p>
            <a:pPr>
              <a:defRPr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Invoices</a:t>
            </a:r>
          </a:p>
          <a:p>
            <a:pPr>
              <a:defRPr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Organizations</a:t>
            </a:r>
          </a:p>
          <a:p>
            <a:pPr>
              <a:defRPr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Support Tickets</a:t>
            </a:r>
          </a:p>
        </p:txBody>
      </p:sp>
      <p:sp>
        <p:nvSpPr>
          <p:cNvPr id="178" name="Rectangle"/>
          <p:cNvSpPr/>
          <p:nvPr/>
        </p:nvSpPr>
        <p:spPr>
          <a:xfrm>
            <a:off x="8953500" y="1666875"/>
            <a:ext cx="2571750" cy="3238500"/>
          </a:xfrm>
          <a:prstGeom prst="rect">
            <a:avLst/>
          </a:prstGeom>
          <a:solidFill>
            <a:srgbClr val="F8FAFC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79" name="Role Hierarchy"/>
          <p:cNvSpPr txBox="1"/>
          <p:nvPr/>
        </p:nvSpPr>
        <p:spPr>
          <a:xfrm>
            <a:off x="9170669" y="1819275"/>
            <a:ext cx="213741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Role Hierarchy</a:t>
            </a:r>
          </a:p>
        </p:txBody>
      </p:sp>
      <p:sp>
        <p:nvSpPr>
          <p:cNvPr id="180" name="Rectangle"/>
          <p:cNvSpPr/>
          <p:nvPr/>
        </p:nvSpPr>
        <p:spPr>
          <a:xfrm>
            <a:off x="9353550" y="2381250"/>
            <a:ext cx="1790700" cy="400050"/>
          </a:xfrm>
          <a:prstGeom prst="rect">
            <a:avLst/>
          </a:prstGeom>
          <a:solidFill>
            <a:srgbClr val="EEF6FF"/>
          </a:solidFill>
          <a:ln w="3175">
            <a:solidFill>
              <a:srgbClr val="EEF6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81" name="customer"/>
          <p:cNvSpPr txBox="1"/>
          <p:nvPr/>
        </p:nvSpPr>
        <p:spPr>
          <a:xfrm>
            <a:off x="9475469" y="2428875"/>
            <a:ext cx="154686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300">
                <a:solidFill>
                  <a:srgbClr val="1E3A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82" name="Rectangle"/>
          <p:cNvSpPr/>
          <p:nvPr/>
        </p:nvSpPr>
        <p:spPr>
          <a:xfrm>
            <a:off x="9353550" y="2933700"/>
            <a:ext cx="1790700" cy="400050"/>
          </a:xfrm>
          <a:prstGeom prst="rect">
            <a:avLst/>
          </a:prstGeom>
          <a:solidFill>
            <a:srgbClr val="EEF6FF"/>
          </a:solidFill>
          <a:ln w="3175">
            <a:solidFill>
              <a:srgbClr val="EEF6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83" name="support"/>
          <p:cNvSpPr txBox="1"/>
          <p:nvPr/>
        </p:nvSpPr>
        <p:spPr>
          <a:xfrm>
            <a:off x="9475469" y="2981325"/>
            <a:ext cx="154686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300">
                <a:solidFill>
                  <a:srgbClr val="1E3A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support</a:t>
            </a:r>
          </a:p>
        </p:txBody>
      </p:sp>
      <p:sp>
        <p:nvSpPr>
          <p:cNvPr id="184" name="Rectangle"/>
          <p:cNvSpPr/>
          <p:nvPr/>
        </p:nvSpPr>
        <p:spPr>
          <a:xfrm>
            <a:off x="9353550" y="3486150"/>
            <a:ext cx="1790700" cy="400050"/>
          </a:xfrm>
          <a:prstGeom prst="rect">
            <a:avLst/>
          </a:prstGeom>
          <a:solidFill>
            <a:srgbClr val="EEF6FF"/>
          </a:solidFill>
          <a:ln w="3175">
            <a:solidFill>
              <a:srgbClr val="EEF6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85" name="manager"/>
          <p:cNvSpPr txBox="1"/>
          <p:nvPr/>
        </p:nvSpPr>
        <p:spPr>
          <a:xfrm>
            <a:off x="9475469" y="3533775"/>
            <a:ext cx="154686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300">
                <a:solidFill>
                  <a:srgbClr val="1E3A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manager</a:t>
            </a:r>
          </a:p>
        </p:txBody>
      </p:sp>
      <p:sp>
        <p:nvSpPr>
          <p:cNvPr id="186" name="Rectangle"/>
          <p:cNvSpPr/>
          <p:nvPr/>
        </p:nvSpPr>
        <p:spPr>
          <a:xfrm>
            <a:off x="9353550" y="4038600"/>
            <a:ext cx="1790700" cy="400050"/>
          </a:xfrm>
          <a:prstGeom prst="rect">
            <a:avLst/>
          </a:prstGeom>
          <a:solidFill>
            <a:srgbClr val="FEE2E2"/>
          </a:solidFill>
          <a:ln w="3175">
            <a:solidFill>
              <a:srgbClr val="FEE2E2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87" name="admin"/>
          <p:cNvSpPr txBox="1"/>
          <p:nvPr/>
        </p:nvSpPr>
        <p:spPr>
          <a:xfrm>
            <a:off x="9475469" y="4086225"/>
            <a:ext cx="154686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300">
                <a:solidFill>
                  <a:srgbClr val="991B1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admin</a:t>
            </a:r>
          </a:p>
        </p:txBody>
      </p:sp>
      <p:sp>
        <p:nvSpPr>
          <p:cNvPr id="188" name="AuthZ Scanner technical presentation"/>
          <p:cNvSpPr txBox="1"/>
          <p:nvPr/>
        </p:nvSpPr>
        <p:spPr>
          <a:xfrm>
            <a:off x="579119" y="6438900"/>
            <a:ext cx="4290062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AuthZ Scanner technical presentation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11"/>
          <p:cNvSpPr txBox="1"/>
          <p:nvPr/>
        </p:nvSpPr>
        <p:spPr>
          <a:xfrm>
            <a:off x="579119" y="342900"/>
            <a:ext cx="575312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1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193" name="JWT Authentication Flow"/>
          <p:cNvSpPr txBox="1"/>
          <p:nvPr/>
        </p:nvSpPr>
        <p:spPr>
          <a:xfrm>
            <a:off x="579119" y="666750"/>
            <a:ext cx="10195562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3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JWT Authentication Flow</a:t>
            </a:r>
          </a:p>
        </p:txBody>
      </p:sp>
      <p:sp>
        <p:nvSpPr>
          <p:cNvPr id="194" name="Rectangle"/>
          <p:cNvSpPr/>
          <p:nvPr/>
        </p:nvSpPr>
        <p:spPr>
          <a:xfrm>
            <a:off x="533400" y="1276350"/>
            <a:ext cx="1524000" cy="28575"/>
          </a:xfrm>
          <a:prstGeom prst="rect">
            <a:avLst/>
          </a:prstGeom>
          <a:solidFill>
            <a:srgbClr val="2563EB"/>
          </a:solidFill>
          <a:ln w="3175">
            <a:solidFill>
              <a:srgbClr val="2563E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95" name="• Scanner logs in as each configured identity…"/>
          <p:cNvSpPr txBox="1"/>
          <p:nvPr/>
        </p:nvSpPr>
        <p:spPr>
          <a:xfrm>
            <a:off x="750569" y="1752600"/>
            <a:ext cx="5052062" cy="409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Scanner logs in as each configured identity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The access token gets attached to later requests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Cookie, static token, custom header and refresh token flows are also supported</a:t>
            </a:r>
          </a:p>
        </p:txBody>
      </p:sp>
      <p:sp>
        <p:nvSpPr>
          <p:cNvPr id="196" name="Rectangle"/>
          <p:cNvSpPr/>
          <p:nvPr/>
        </p:nvSpPr>
        <p:spPr>
          <a:xfrm>
            <a:off x="6096000" y="2476500"/>
            <a:ext cx="1257300" cy="876300"/>
          </a:xfrm>
          <a:prstGeom prst="rect">
            <a:avLst/>
          </a:prstGeom>
          <a:solidFill>
            <a:srgbClr val="EEF6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97" name="Login"/>
          <p:cNvSpPr txBox="1"/>
          <p:nvPr/>
        </p:nvSpPr>
        <p:spPr>
          <a:xfrm>
            <a:off x="6313169" y="2628900"/>
            <a:ext cx="82296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400">
                <a:solidFill>
                  <a:srgbClr val="1E3A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Login</a:t>
            </a:r>
          </a:p>
        </p:txBody>
      </p:sp>
      <p:sp>
        <p:nvSpPr>
          <p:cNvPr id="198" name="→"/>
          <p:cNvSpPr txBox="1"/>
          <p:nvPr/>
        </p:nvSpPr>
        <p:spPr>
          <a:xfrm>
            <a:off x="7294244" y="2714625"/>
            <a:ext cx="251462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99" name="Rectangle"/>
          <p:cNvSpPr/>
          <p:nvPr/>
        </p:nvSpPr>
        <p:spPr>
          <a:xfrm>
            <a:off x="7486650" y="2476500"/>
            <a:ext cx="1257300" cy="876300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00" name="Access Token"/>
          <p:cNvSpPr txBox="1"/>
          <p:nvPr/>
        </p:nvSpPr>
        <p:spPr>
          <a:xfrm>
            <a:off x="7516192" y="2648896"/>
            <a:ext cx="1255366" cy="5315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Access Token</a:t>
            </a:r>
          </a:p>
        </p:txBody>
      </p:sp>
      <p:sp>
        <p:nvSpPr>
          <p:cNvPr id="201" name="→"/>
          <p:cNvSpPr txBox="1"/>
          <p:nvPr/>
        </p:nvSpPr>
        <p:spPr>
          <a:xfrm>
            <a:off x="8684894" y="2714625"/>
            <a:ext cx="251462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02" name="Rectangle"/>
          <p:cNvSpPr/>
          <p:nvPr/>
        </p:nvSpPr>
        <p:spPr>
          <a:xfrm>
            <a:off x="8877300" y="2476500"/>
            <a:ext cx="1257300" cy="876300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03" name="Identity"/>
          <p:cNvSpPr txBox="1"/>
          <p:nvPr/>
        </p:nvSpPr>
        <p:spPr>
          <a:xfrm>
            <a:off x="9094469" y="2651430"/>
            <a:ext cx="1232537" cy="5315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Identity</a:t>
            </a:r>
          </a:p>
        </p:txBody>
      </p:sp>
      <p:sp>
        <p:nvSpPr>
          <p:cNvPr id="204" name="→"/>
          <p:cNvSpPr txBox="1"/>
          <p:nvPr/>
        </p:nvSpPr>
        <p:spPr>
          <a:xfrm>
            <a:off x="10075544" y="2714625"/>
            <a:ext cx="251462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05" name="Rectangle"/>
          <p:cNvSpPr/>
          <p:nvPr/>
        </p:nvSpPr>
        <p:spPr>
          <a:xfrm>
            <a:off x="10267950" y="2476500"/>
            <a:ext cx="1257300" cy="876300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06" name="Protected Request"/>
          <p:cNvSpPr txBox="1"/>
          <p:nvPr/>
        </p:nvSpPr>
        <p:spPr>
          <a:xfrm>
            <a:off x="10327005" y="2600325"/>
            <a:ext cx="1527176" cy="628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Protected Request</a:t>
            </a:r>
          </a:p>
        </p:txBody>
      </p:sp>
      <p:sp>
        <p:nvSpPr>
          <p:cNvPr id="207" name="Rectangle"/>
          <p:cNvSpPr/>
          <p:nvPr/>
        </p:nvSpPr>
        <p:spPr>
          <a:xfrm>
            <a:off x="6934200" y="3857625"/>
            <a:ext cx="3429000" cy="400050"/>
          </a:xfrm>
          <a:prstGeom prst="rect">
            <a:avLst/>
          </a:prstGeom>
          <a:solidFill>
            <a:srgbClr val="ECFDF5"/>
          </a:solidFill>
          <a:ln w="3175">
            <a:solidFill>
              <a:srgbClr val="ECFDF5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08" name="JWT is identity transport; AuthZ is tested after login"/>
          <p:cNvSpPr txBox="1"/>
          <p:nvPr/>
        </p:nvSpPr>
        <p:spPr>
          <a:xfrm>
            <a:off x="6793038" y="3922996"/>
            <a:ext cx="3711324" cy="403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100">
                <a:solidFill>
                  <a:srgbClr val="16653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JWT is identity transport; AuthZ is tested after login</a:t>
            </a:r>
          </a:p>
        </p:txBody>
      </p:sp>
      <p:sp>
        <p:nvSpPr>
          <p:cNvPr id="209" name="AuthZ Scanner technical presentation"/>
          <p:cNvSpPr txBox="1"/>
          <p:nvPr/>
        </p:nvSpPr>
        <p:spPr>
          <a:xfrm>
            <a:off x="579119" y="6438900"/>
            <a:ext cx="4290062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AuthZ Scanner technical presentation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12"/>
          <p:cNvSpPr txBox="1"/>
          <p:nvPr/>
        </p:nvSpPr>
        <p:spPr>
          <a:xfrm>
            <a:off x="579119" y="342900"/>
            <a:ext cx="575312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1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14" name="Config-Driven Design"/>
          <p:cNvSpPr txBox="1"/>
          <p:nvPr/>
        </p:nvSpPr>
        <p:spPr>
          <a:xfrm>
            <a:off x="579119" y="666750"/>
            <a:ext cx="10195562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3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Config-Driven Design</a:t>
            </a:r>
          </a:p>
        </p:txBody>
      </p:sp>
      <p:sp>
        <p:nvSpPr>
          <p:cNvPr id="215" name="Rectangle"/>
          <p:cNvSpPr/>
          <p:nvPr/>
        </p:nvSpPr>
        <p:spPr>
          <a:xfrm>
            <a:off x="533400" y="1276350"/>
            <a:ext cx="1524000" cy="28575"/>
          </a:xfrm>
          <a:prstGeom prst="rect">
            <a:avLst/>
          </a:prstGeom>
          <a:solidFill>
            <a:srgbClr val="2563EB"/>
          </a:solidFill>
          <a:ln w="3175">
            <a:solidFill>
              <a:srgbClr val="2563E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16" name="• The scanner does not import API models…"/>
          <p:cNvSpPr txBox="1"/>
          <p:nvPr/>
        </p:nvSpPr>
        <p:spPr>
          <a:xfrm>
            <a:off x="750569" y="1752600"/>
            <a:ext cx="5052062" cy="409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The scanner does not import API models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It does not read the target database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It observes API behavior through HTTP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Target-specific rules live in YAML</a:t>
            </a:r>
          </a:p>
        </p:txBody>
      </p:sp>
      <p:sp>
        <p:nvSpPr>
          <p:cNvPr id="217" name="Rectangle"/>
          <p:cNvSpPr/>
          <p:nvPr/>
        </p:nvSpPr>
        <p:spPr>
          <a:xfrm>
            <a:off x="6191250" y="2095500"/>
            <a:ext cx="2238375" cy="1905000"/>
          </a:xfrm>
          <a:prstGeom prst="rect">
            <a:avLst/>
          </a:prstGeom>
          <a:solidFill>
            <a:srgbClr val="F1F5F9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18" name="API Internal Code"/>
          <p:cNvSpPr txBox="1"/>
          <p:nvPr/>
        </p:nvSpPr>
        <p:spPr>
          <a:xfrm>
            <a:off x="6408419" y="2247900"/>
            <a:ext cx="1804037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API Internal Code</a:t>
            </a:r>
          </a:p>
        </p:txBody>
      </p:sp>
      <p:sp>
        <p:nvSpPr>
          <p:cNvPr id="219" name="Database models…"/>
          <p:cNvSpPr txBox="1"/>
          <p:nvPr/>
        </p:nvSpPr>
        <p:spPr>
          <a:xfrm>
            <a:off x="6408419" y="2628900"/>
            <a:ext cx="1804037" cy="1257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14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Database models</a:t>
            </a:r>
          </a:p>
          <a:p>
            <a:pPr>
              <a:defRPr sz="14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Framework internals</a:t>
            </a:r>
          </a:p>
          <a:p>
            <a:pPr>
              <a:defRPr sz="14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Implementation details</a:t>
            </a:r>
          </a:p>
        </p:txBody>
      </p:sp>
      <p:sp>
        <p:nvSpPr>
          <p:cNvPr id="220" name="→"/>
          <p:cNvSpPr txBox="1"/>
          <p:nvPr/>
        </p:nvSpPr>
        <p:spPr>
          <a:xfrm>
            <a:off x="8637269" y="2819400"/>
            <a:ext cx="403862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21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21" name="Rectangle"/>
          <p:cNvSpPr/>
          <p:nvPr/>
        </p:nvSpPr>
        <p:spPr>
          <a:xfrm>
            <a:off x="9239250" y="2095500"/>
            <a:ext cx="2238375" cy="1905000"/>
          </a:xfrm>
          <a:prstGeom prst="rect">
            <a:avLst/>
          </a:prstGeom>
          <a:solidFill>
            <a:srgbClr val="ECFDF5"/>
          </a:solidFill>
          <a:ln w="11430">
            <a:solidFill>
              <a:srgbClr val="86EFA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22" name="HTTP Behavior Scanner"/>
          <p:cNvSpPr txBox="1"/>
          <p:nvPr/>
        </p:nvSpPr>
        <p:spPr>
          <a:xfrm>
            <a:off x="9456419" y="2247900"/>
            <a:ext cx="1804037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100">
                <a:solidFill>
                  <a:srgbClr val="16653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HTTP Behavior Scanner</a:t>
            </a:r>
          </a:p>
        </p:txBody>
      </p:sp>
      <p:sp>
        <p:nvSpPr>
          <p:cNvPr id="223" name="Requests…"/>
          <p:cNvSpPr txBox="1"/>
          <p:nvPr/>
        </p:nvSpPr>
        <p:spPr>
          <a:xfrm>
            <a:off x="9456419" y="2628900"/>
            <a:ext cx="1804037" cy="1257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14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Requests</a:t>
            </a:r>
          </a:p>
          <a:p>
            <a:pPr>
              <a:defRPr sz="14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Responses</a:t>
            </a:r>
          </a:p>
          <a:p>
            <a:pPr>
              <a:defRPr sz="14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Expected vs observed</a:t>
            </a:r>
          </a:p>
          <a:p>
            <a:pPr>
              <a:defRPr sz="14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Findings</a:t>
            </a:r>
          </a:p>
        </p:txBody>
      </p:sp>
      <p:sp>
        <p:nvSpPr>
          <p:cNvPr id="224" name="AuthZ Scanner technical presentation"/>
          <p:cNvSpPr txBox="1"/>
          <p:nvPr/>
        </p:nvSpPr>
        <p:spPr>
          <a:xfrm>
            <a:off x="579119" y="6438900"/>
            <a:ext cx="4290062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AuthZ Scanner technical presentation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13"/>
          <p:cNvSpPr txBox="1"/>
          <p:nvPr/>
        </p:nvSpPr>
        <p:spPr>
          <a:xfrm>
            <a:off x="579119" y="342900"/>
            <a:ext cx="575312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1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229" name="YAML Configuration Model"/>
          <p:cNvSpPr txBox="1"/>
          <p:nvPr/>
        </p:nvSpPr>
        <p:spPr>
          <a:xfrm>
            <a:off x="579119" y="666750"/>
            <a:ext cx="10195562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3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YAML Configuration Model</a:t>
            </a:r>
          </a:p>
        </p:txBody>
      </p:sp>
      <p:sp>
        <p:nvSpPr>
          <p:cNvPr id="230" name="Rectangle"/>
          <p:cNvSpPr/>
          <p:nvPr/>
        </p:nvSpPr>
        <p:spPr>
          <a:xfrm>
            <a:off x="533400" y="1276350"/>
            <a:ext cx="1524000" cy="28575"/>
          </a:xfrm>
          <a:prstGeom prst="rect">
            <a:avLst/>
          </a:prstGeom>
          <a:solidFill>
            <a:srgbClr val="2563EB"/>
          </a:solidFill>
          <a:ln w="3175">
            <a:solidFill>
              <a:srgbClr val="2563E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31" name="• Config defines target, auth, identities and roles…"/>
          <p:cNvSpPr txBox="1"/>
          <p:nvPr/>
        </p:nvSpPr>
        <p:spPr>
          <a:xfrm>
            <a:off x="750569" y="1752600"/>
            <a:ext cx="5052062" cy="409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Config defines target, auth, identities and roles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It maps ownership fields and expected behavior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It stores severity, risk score and business impact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Manual YAML evolved into OpenAPI starter config plus review</a:t>
            </a:r>
          </a:p>
        </p:txBody>
      </p:sp>
      <p:sp>
        <p:nvSpPr>
          <p:cNvPr id="232" name="Rectangle"/>
          <p:cNvSpPr/>
          <p:nvPr/>
        </p:nvSpPr>
        <p:spPr>
          <a:xfrm>
            <a:off x="6191250" y="2381250"/>
            <a:ext cx="1657350" cy="1047750"/>
          </a:xfrm>
          <a:prstGeom prst="rect">
            <a:avLst/>
          </a:prstGeom>
          <a:solidFill>
            <a:srgbClr val="EEF6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33" name="Manual YAML"/>
          <p:cNvSpPr txBox="1"/>
          <p:nvPr/>
        </p:nvSpPr>
        <p:spPr>
          <a:xfrm>
            <a:off x="6408419" y="2533650"/>
            <a:ext cx="122301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200">
                <a:solidFill>
                  <a:srgbClr val="1E3A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Manual YAML</a:t>
            </a:r>
          </a:p>
        </p:txBody>
      </p:sp>
      <p:sp>
        <p:nvSpPr>
          <p:cNvPr id="234" name="→"/>
          <p:cNvSpPr txBox="1"/>
          <p:nvPr/>
        </p:nvSpPr>
        <p:spPr>
          <a:xfrm>
            <a:off x="7789544" y="2705100"/>
            <a:ext cx="251462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35" name="Rectangle"/>
          <p:cNvSpPr/>
          <p:nvPr/>
        </p:nvSpPr>
        <p:spPr>
          <a:xfrm>
            <a:off x="7981950" y="2381250"/>
            <a:ext cx="1657350" cy="1047750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36" name="OpenAPI Starter"/>
          <p:cNvSpPr txBox="1"/>
          <p:nvPr/>
        </p:nvSpPr>
        <p:spPr>
          <a:xfrm>
            <a:off x="8199119" y="2533650"/>
            <a:ext cx="122301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1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OpenAPI Starter</a:t>
            </a:r>
          </a:p>
        </p:txBody>
      </p:sp>
      <p:sp>
        <p:nvSpPr>
          <p:cNvPr id="237" name="→"/>
          <p:cNvSpPr txBox="1"/>
          <p:nvPr/>
        </p:nvSpPr>
        <p:spPr>
          <a:xfrm>
            <a:off x="9580244" y="2705100"/>
            <a:ext cx="251462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38" name="Rectangle"/>
          <p:cNvSpPr/>
          <p:nvPr/>
        </p:nvSpPr>
        <p:spPr>
          <a:xfrm>
            <a:off x="9772650" y="2381250"/>
            <a:ext cx="1657350" cy="1047750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39" name="Human Review"/>
          <p:cNvSpPr txBox="1"/>
          <p:nvPr/>
        </p:nvSpPr>
        <p:spPr>
          <a:xfrm>
            <a:off x="9989819" y="2533650"/>
            <a:ext cx="122301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2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Human Review</a:t>
            </a:r>
          </a:p>
        </p:txBody>
      </p:sp>
      <p:sp>
        <p:nvSpPr>
          <p:cNvPr id="240" name="Rectangle"/>
          <p:cNvSpPr/>
          <p:nvPr/>
        </p:nvSpPr>
        <p:spPr>
          <a:xfrm>
            <a:off x="6819900" y="3905250"/>
            <a:ext cx="3905250" cy="419100"/>
          </a:xfrm>
          <a:prstGeom prst="rect">
            <a:avLst/>
          </a:prstGeom>
          <a:solidFill>
            <a:srgbClr val="FEF3C7"/>
          </a:solidFill>
          <a:ln w="3175">
            <a:solidFill>
              <a:srgbClr val="FEF3C7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41" name="Generated config is a starting point, not final security truth"/>
          <p:cNvSpPr txBox="1"/>
          <p:nvPr/>
        </p:nvSpPr>
        <p:spPr>
          <a:xfrm>
            <a:off x="6941819" y="3952875"/>
            <a:ext cx="3661412" cy="342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900">
                <a:solidFill>
                  <a:srgbClr val="92400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Generated config is a starting point, not final security truth</a:t>
            </a:r>
          </a:p>
        </p:txBody>
      </p:sp>
      <p:sp>
        <p:nvSpPr>
          <p:cNvPr id="242" name="AuthZ Scanner technical presentation"/>
          <p:cNvSpPr txBox="1"/>
          <p:nvPr/>
        </p:nvSpPr>
        <p:spPr>
          <a:xfrm>
            <a:off x="579119" y="6438900"/>
            <a:ext cx="4290062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AuthZ Scanner technical presentation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14"/>
          <p:cNvSpPr txBox="1"/>
          <p:nvPr/>
        </p:nvSpPr>
        <p:spPr>
          <a:xfrm>
            <a:off x="579119" y="342900"/>
            <a:ext cx="575312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1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247" name="Identity and Ownership Mapping"/>
          <p:cNvSpPr txBox="1"/>
          <p:nvPr/>
        </p:nvSpPr>
        <p:spPr>
          <a:xfrm>
            <a:off x="579119" y="666750"/>
            <a:ext cx="10195562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3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Identity and Ownership Mapping</a:t>
            </a:r>
          </a:p>
        </p:txBody>
      </p:sp>
      <p:sp>
        <p:nvSpPr>
          <p:cNvPr id="248" name="Rectangle"/>
          <p:cNvSpPr/>
          <p:nvPr/>
        </p:nvSpPr>
        <p:spPr>
          <a:xfrm>
            <a:off x="533400" y="1276350"/>
            <a:ext cx="1524000" cy="28575"/>
          </a:xfrm>
          <a:prstGeom prst="rect">
            <a:avLst/>
          </a:prstGeom>
          <a:solidFill>
            <a:srgbClr val="2563EB"/>
          </a:solidFill>
          <a:ln w="3175">
            <a:solidFill>
              <a:srgbClr val="2563E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49" name="• Profile response gives the current subject id…"/>
          <p:cNvSpPr txBox="1"/>
          <p:nvPr/>
        </p:nvSpPr>
        <p:spPr>
          <a:xfrm>
            <a:off x="750569" y="1752600"/>
            <a:ext cx="5052062" cy="409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Profile response gives the current subject id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Resource list response exposes resource id and owner field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Scanner tests boundaries between different subjects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The logic is role-based, not tied to userA or userB names</a:t>
            </a:r>
          </a:p>
        </p:txBody>
      </p:sp>
      <p:sp>
        <p:nvSpPr>
          <p:cNvPr id="250" name="Rectangle"/>
          <p:cNvSpPr/>
          <p:nvPr/>
        </p:nvSpPr>
        <p:spPr>
          <a:xfrm>
            <a:off x="6191250" y="2000250"/>
            <a:ext cx="1524000" cy="1238250"/>
          </a:xfrm>
          <a:prstGeom prst="rect">
            <a:avLst/>
          </a:prstGeom>
          <a:solidFill>
            <a:srgbClr val="ECFDF5"/>
          </a:solidFill>
          <a:ln w="11430">
            <a:solidFill>
              <a:srgbClr val="86EFA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51" name="userA"/>
          <p:cNvSpPr txBox="1"/>
          <p:nvPr/>
        </p:nvSpPr>
        <p:spPr>
          <a:xfrm>
            <a:off x="6408419" y="2152650"/>
            <a:ext cx="108966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16653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userA</a:t>
            </a:r>
          </a:p>
        </p:txBody>
      </p:sp>
      <p:sp>
        <p:nvSpPr>
          <p:cNvPr id="252" name="owns order…"/>
          <p:cNvSpPr txBox="1"/>
          <p:nvPr/>
        </p:nvSpPr>
        <p:spPr>
          <a:xfrm>
            <a:off x="6408419" y="2533650"/>
            <a:ext cx="1089662" cy="590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12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owns order</a:t>
            </a:r>
          </a:p>
          <a:p>
            <a:pPr>
              <a:defRPr sz="12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owner_id = A</a:t>
            </a:r>
          </a:p>
        </p:txBody>
      </p:sp>
      <p:sp>
        <p:nvSpPr>
          <p:cNvPr id="253" name="Rectangle"/>
          <p:cNvSpPr/>
          <p:nvPr/>
        </p:nvSpPr>
        <p:spPr>
          <a:xfrm>
            <a:off x="8239125" y="2238375"/>
            <a:ext cx="1619250" cy="1238250"/>
          </a:xfrm>
          <a:prstGeom prst="rect">
            <a:avLst/>
          </a:prstGeom>
          <a:solidFill>
            <a:srgbClr val="EEF6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54" name="Order #1001"/>
          <p:cNvSpPr txBox="1"/>
          <p:nvPr/>
        </p:nvSpPr>
        <p:spPr>
          <a:xfrm>
            <a:off x="8456294" y="2390775"/>
            <a:ext cx="118491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1E3A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Order #1001</a:t>
            </a:r>
          </a:p>
        </p:txBody>
      </p:sp>
      <p:sp>
        <p:nvSpPr>
          <p:cNvPr id="255" name="resource id…"/>
          <p:cNvSpPr txBox="1"/>
          <p:nvPr/>
        </p:nvSpPr>
        <p:spPr>
          <a:xfrm>
            <a:off x="8456294" y="2771775"/>
            <a:ext cx="1184912" cy="590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11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resource id</a:t>
            </a:r>
          </a:p>
          <a:p>
            <a:pPr>
              <a:defRPr sz="11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owner boundary</a:t>
            </a:r>
          </a:p>
        </p:txBody>
      </p:sp>
      <p:sp>
        <p:nvSpPr>
          <p:cNvPr id="256" name="Rectangle"/>
          <p:cNvSpPr/>
          <p:nvPr/>
        </p:nvSpPr>
        <p:spPr>
          <a:xfrm>
            <a:off x="10382250" y="2000250"/>
            <a:ext cx="1524000" cy="1238250"/>
          </a:xfrm>
          <a:prstGeom prst="rect">
            <a:avLst/>
          </a:prstGeom>
          <a:solidFill>
            <a:srgbClr val="FEF2F2"/>
          </a:solidFill>
          <a:ln w="11430">
            <a:solidFill>
              <a:srgbClr val="FCA5A5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57" name="userB"/>
          <p:cNvSpPr txBox="1"/>
          <p:nvPr/>
        </p:nvSpPr>
        <p:spPr>
          <a:xfrm>
            <a:off x="10599419" y="2152650"/>
            <a:ext cx="108966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991B1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userB</a:t>
            </a:r>
          </a:p>
        </p:txBody>
      </p:sp>
      <p:sp>
        <p:nvSpPr>
          <p:cNvPr id="258" name="same role…"/>
          <p:cNvSpPr txBox="1"/>
          <p:nvPr/>
        </p:nvSpPr>
        <p:spPr>
          <a:xfrm>
            <a:off x="10599419" y="2533650"/>
            <a:ext cx="1089662" cy="590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11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same role</a:t>
            </a:r>
          </a:p>
          <a:p>
            <a:pPr>
              <a:defRPr sz="11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attack request</a:t>
            </a:r>
          </a:p>
        </p:txBody>
      </p:sp>
      <p:sp>
        <p:nvSpPr>
          <p:cNvPr id="259" name="→"/>
          <p:cNvSpPr txBox="1"/>
          <p:nvPr/>
        </p:nvSpPr>
        <p:spPr>
          <a:xfrm>
            <a:off x="7703819" y="2400300"/>
            <a:ext cx="461012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2100">
                <a:solidFill>
                  <a:srgbClr val="16653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60" name="→"/>
          <p:cNvSpPr txBox="1"/>
          <p:nvPr/>
        </p:nvSpPr>
        <p:spPr>
          <a:xfrm>
            <a:off x="9913619" y="2400300"/>
            <a:ext cx="461012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2100">
                <a:solidFill>
                  <a:srgbClr val="991B1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61" name="Rectangle"/>
          <p:cNvSpPr/>
          <p:nvPr/>
        </p:nvSpPr>
        <p:spPr>
          <a:xfrm>
            <a:off x="7048500" y="4095750"/>
            <a:ext cx="4095750" cy="361950"/>
          </a:xfrm>
          <a:prstGeom prst="rect">
            <a:avLst/>
          </a:prstGeom>
          <a:solidFill>
            <a:srgbClr val="EEF6FF"/>
          </a:solidFill>
          <a:ln w="3175">
            <a:solidFill>
              <a:srgbClr val="EEF6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62" name="BOLA = same role, different subject, same resource"/>
          <p:cNvSpPr txBox="1"/>
          <p:nvPr/>
        </p:nvSpPr>
        <p:spPr>
          <a:xfrm>
            <a:off x="7170419" y="4143375"/>
            <a:ext cx="3851912" cy="28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100">
                <a:solidFill>
                  <a:srgbClr val="1E3A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BOLA = same role, different subject, same resource</a:t>
            </a:r>
          </a:p>
        </p:txBody>
      </p:sp>
      <p:sp>
        <p:nvSpPr>
          <p:cNvPr id="263" name="AuthZ Scanner technical presentation"/>
          <p:cNvSpPr txBox="1"/>
          <p:nvPr/>
        </p:nvSpPr>
        <p:spPr>
          <a:xfrm>
            <a:off x="579119" y="6438900"/>
            <a:ext cx="4290062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AuthZ Scanner technical presentation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15"/>
          <p:cNvSpPr txBox="1"/>
          <p:nvPr/>
        </p:nvSpPr>
        <p:spPr>
          <a:xfrm>
            <a:off x="579119" y="342900"/>
            <a:ext cx="575312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1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268" name="Scanner Execution Flow"/>
          <p:cNvSpPr txBox="1"/>
          <p:nvPr/>
        </p:nvSpPr>
        <p:spPr>
          <a:xfrm>
            <a:off x="579119" y="666750"/>
            <a:ext cx="10195562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3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Scanner Execution Flow</a:t>
            </a:r>
          </a:p>
        </p:txBody>
      </p:sp>
      <p:sp>
        <p:nvSpPr>
          <p:cNvPr id="269" name="Rectangle"/>
          <p:cNvSpPr/>
          <p:nvPr/>
        </p:nvSpPr>
        <p:spPr>
          <a:xfrm>
            <a:off x="533400" y="1276350"/>
            <a:ext cx="1524000" cy="28575"/>
          </a:xfrm>
          <a:prstGeom prst="rect">
            <a:avLst/>
          </a:prstGeom>
          <a:solidFill>
            <a:srgbClr val="2563EB"/>
          </a:solidFill>
          <a:ln w="3175">
            <a:solidFill>
              <a:srgbClr val="2563E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70" name="• Load and validate config…"/>
          <p:cNvSpPr txBox="1"/>
          <p:nvPr/>
        </p:nvSpPr>
        <p:spPr>
          <a:xfrm>
            <a:off x="750569" y="1752600"/>
            <a:ext cx="5052062" cy="409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Load and validate config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Authenticate identities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Run enabled modules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Send HTTP requests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Build findings and reports</a:t>
            </a:r>
          </a:p>
        </p:txBody>
      </p:sp>
      <p:sp>
        <p:nvSpPr>
          <p:cNvPr id="271" name="Rectangle"/>
          <p:cNvSpPr/>
          <p:nvPr/>
        </p:nvSpPr>
        <p:spPr>
          <a:xfrm>
            <a:off x="6019800" y="1857375"/>
            <a:ext cx="2381250" cy="1285875"/>
          </a:xfrm>
          <a:prstGeom prst="rect">
            <a:avLst/>
          </a:prstGeom>
          <a:solidFill>
            <a:srgbClr val="EEF6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72" name="1. Prepare"/>
          <p:cNvSpPr txBox="1"/>
          <p:nvPr/>
        </p:nvSpPr>
        <p:spPr>
          <a:xfrm>
            <a:off x="6236969" y="2009775"/>
            <a:ext cx="194691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1E3A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1. Prepare</a:t>
            </a:r>
          </a:p>
        </p:txBody>
      </p:sp>
      <p:sp>
        <p:nvSpPr>
          <p:cNvPr id="273" name="Load config…"/>
          <p:cNvSpPr txBox="1"/>
          <p:nvPr/>
        </p:nvSpPr>
        <p:spPr>
          <a:xfrm>
            <a:off x="6236969" y="2390775"/>
            <a:ext cx="1946912" cy="63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14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Load config</a:t>
            </a:r>
          </a:p>
          <a:p>
            <a:pPr>
              <a:defRPr sz="14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Authenticate identities</a:t>
            </a:r>
          </a:p>
        </p:txBody>
      </p:sp>
      <p:sp>
        <p:nvSpPr>
          <p:cNvPr id="274" name="→"/>
          <p:cNvSpPr txBox="1"/>
          <p:nvPr/>
        </p:nvSpPr>
        <p:spPr>
          <a:xfrm>
            <a:off x="8561069" y="2305050"/>
            <a:ext cx="422912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21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75" name="Rectangle"/>
          <p:cNvSpPr/>
          <p:nvPr/>
        </p:nvSpPr>
        <p:spPr>
          <a:xfrm>
            <a:off x="9239250" y="1857375"/>
            <a:ext cx="2381250" cy="1285875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76" name="2. Execute"/>
          <p:cNvSpPr txBox="1"/>
          <p:nvPr/>
        </p:nvSpPr>
        <p:spPr>
          <a:xfrm>
            <a:off x="9456419" y="2009775"/>
            <a:ext cx="194691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2. Execute</a:t>
            </a:r>
          </a:p>
        </p:txBody>
      </p:sp>
      <p:sp>
        <p:nvSpPr>
          <p:cNvPr id="277" name="Run modules…"/>
          <p:cNvSpPr txBox="1"/>
          <p:nvPr/>
        </p:nvSpPr>
        <p:spPr>
          <a:xfrm>
            <a:off x="9456419" y="2390775"/>
            <a:ext cx="1946912" cy="63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15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Run modules</a:t>
            </a:r>
          </a:p>
          <a:p>
            <a:pPr>
              <a:defRPr sz="15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Send HTTP requests</a:t>
            </a:r>
          </a:p>
        </p:txBody>
      </p:sp>
      <p:sp>
        <p:nvSpPr>
          <p:cNvPr id="278" name="Rectangle"/>
          <p:cNvSpPr/>
          <p:nvPr/>
        </p:nvSpPr>
        <p:spPr>
          <a:xfrm>
            <a:off x="6019800" y="3667125"/>
            <a:ext cx="2381250" cy="1285875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79" name="3. Analyze"/>
          <p:cNvSpPr txBox="1"/>
          <p:nvPr/>
        </p:nvSpPr>
        <p:spPr>
          <a:xfrm>
            <a:off x="6236969" y="3819525"/>
            <a:ext cx="194691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3. Analyze</a:t>
            </a:r>
          </a:p>
        </p:txBody>
      </p:sp>
      <p:sp>
        <p:nvSpPr>
          <p:cNvPr id="280" name="Compare expected…"/>
          <p:cNvSpPr txBox="1"/>
          <p:nvPr/>
        </p:nvSpPr>
        <p:spPr>
          <a:xfrm>
            <a:off x="6236969" y="4200525"/>
            <a:ext cx="1946912" cy="63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14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Compare expected</a:t>
            </a:r>
          </a:p>
          <a:p>
            <a:pPr>
              <a:defRPr sz="14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vs observed behavior</a:t>
            </a:r>
          </a:p>
        </p:txBody>
      </p:sp>
      <p:sp>
        <p:nvSpPr>
          <p:cNvPr id="281" name="→"/>
          <p:cNvSpPr txBox="1"/>
          <p:nvPr/>
        </p:nvSpPr>
        <p:spPr>
          <a:xfrm>
            <a:off x="8561069" y="4114800"/>
            <a:ext cx="422912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21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82" name="Rectangle"/>
          <p:cNvSpPr/>
          <p:nvPr/>
        </p:nvSpPr>
        <p:spPr>
          <a:xfrm>
            <a:off x="9239250" y="3667125"/>
            <a:ext cx="2381250" cy="1285875"/>
          </a:xfrm>
          <a:prstGeom prst="rect">
            <a:avLst/>
          </a:prstGeom>
          <a:solidFill>
            <a:srgbClr val="ECFDF5"/>
          </a:solidFill>
          <a:ln w="11430">
            <a:solidFill>
              <a:srgbClr val="86EFA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83" name="4. Report"/>
          <p:cNvSpPr txBox="1"/>
          <p:nvPr/>
        </p:nvSpPr>
        <p:spPr>
          <a:xfrm>
            <a:off x="9456419" y="3819525"/>
            <a:ext cx="194691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16653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4. Report</a:t>
            </a:r>
          </a:p>
        </p:txBody>
      </p:sp>
      <p:sp>
        <p:nvSpPr>
          <p:cNvPr id="284" name="Build findings…"/>
          <p:cNvSpPr txBox="1"/>
          <p:nvPr/>
        </p:nvSpPr>
        <p:spPr>
          <a:xfrm>
            <a:off x="9456419" y="4200525"/>
            <a:ext cx="1946912" cy="63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16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Build findings</a:t>
            </a:r>
          </a:p>
          <a:p>
            <a:pPr>
              <a:defRPr sz="16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Generate reports</a:t>
            </a:r>
          </a:p>
        </p:txBody>
      </p:sp>
      <p:sp>
        <p:nvSpPr>
          <p:cNvPr id="285" name="AuthZ Scanner technical presentation"/>
          <p:cNvSpPr txBox="1"/>
          <p:nvPr/>
        </p:nvSpPr>
        <p:spPr>
          <a:xfrm>
            <a:off x="579119" y="6438900"/>
            <a:ext cx="4290062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AuthZ Scanner technical presentation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16"/>
          <p:cNvSpPr txBox="1"/>
          <p:nvPr/>
        </p:nvSpPr>
        <p:spPr>
          <a:xfrm>
            <a:off x="579119" y="342900"/>
            <a:ext cx="575312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1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290" name="Core Components"/>
          <p:cNvSpPr txBox="1"/>
          <p:nvPr/>
        </p:nvSpPr>
        <p:spPr>
          <a:xfrm>
            <a:off x="579119" y="666750"/>
            <a:ext cx="10195562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3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Core Components</a:t>
            </a:r>
          </a:p>
        </p:txBody>
      </p:sp>
      <p:sp>
        <p:nvSpPr>
          <p:cNvPr id="291" name="Rectangle"/>
          <p:cNvSpPr/>
          <p:nvPr/>
        </p:nvSpPr>
        <p:spPr>
          <a:xfrm>
            <a:off x="533400" y="1276350"/>
            <a:ext cx="1524000" cy="28575"/>
          </a:xfrm>
          <a:prstGeom prst="rect">
            <a:avLst/>
          </a:prstGeom>
          <a:solidFill>
            <a:srgbClr val="2563EB"/>
          </a:solidFill>
          <a:ln w="3175">
            <a:solidFill>
              <a:srgbClr val="2563E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92" name="• config.py models the YAML structure…"/>
          <p:cNvSpPr txBox="1"/>
          <p:nvPr/>
        </p:nvSpPr>
        <p:spPr>
          <a:xfrm>
            <a:off x="750569" y="1752600"/>
            <a:ext cx="5052062" cy="409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config.py models the YAML structure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identity.py handles login and token extraction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executor.py sends HTTP requests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finding.py, evidence.py and risk.py shape the output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config_doctor.py validates readiness before scanning</a:t>
            </a:r>
          </a:p>
        </p:txBody>
      </p:sp>
      <p:sp>
        <p:nvSpPr>
          <p:cNvPr id="293" name="Rectangle"/>
          <p:cNvSpPr/>
          <p:nvPr/>
        </p:nvSpPr>
        <p:spPr>
          <a:xfrm>
            <a:off x="6153150" y="1676400"/>
            <a:ext cx="2095500" cy="590550"/>
          </a:xfrm>
          <a:prstGeom prst="rect">
            <a:avLst/>
          </a:prstGeom>
          <a:solidFill>
            <a:srgbClr val="EEF6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94" name="config.py"/>
          <p:cNvSpPr txBox="1"/>
          <p:nvPr/>
        </p:nvSpPr>
        <p:spPr>
          <a:xfrm>
            <a:off x="6370319" y="1828800"/>
            <a:ext cx="166116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1E3A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config.py</a:t>
            </a:r>
          </a:p>
        </p:txBody>
      </p:sp>
      <p:sp>
        <p:nvSpPr>
          <p:cNvPr id="295" name="Rectangle"/>
          <p:cNvSpPr/>
          <p:nvPr/>
        </p:nvSpPr>
        <p:spPr>
          <a:xfrm>
            <a:off x="8534400" y="1676400"/>
            <a:ext cx="2095500" cy="590550"/>
          </a:xfrm>
          <a:prstGeom prst="rect">
            <a:avLst/>
          </a:prstGeom>
          <a:solidFill>
            <a:srgbClr val="EEF6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96" name="identity.py"/>
          <p:cNvSpPr txBox="1"/>
          <p:nvPr/>
        </p:nvSpPr>
        <p:spPr>
          <a:xfrm>
            <a:off x="8751569" y="1828800"/>
            <a:ext cx="166116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1E3A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identity.py</a:t>
            </a:r>
          </a:p>
        </p:txBody>
      </p:sp>
      <p:sp>
        <p:nvSpPr>
          <p:cNvPr id="297" name="Rectangle"/>
          <p:cNvSpPr/>
          <p:nvPr/>
        </p:nvSpPr>
        <p:spPr>
          <a:xfrm>
            <a:off x="6153150" y="2552700"/>
            <a:ext cx="2095500" cy="590550"/>
          </a:xfrm>
          <a:prstGeom prst="rect">
            <a:avLst/>
          </a:prstGeom>
          <a:solidFill>
            <a:srgbClr val="EEF6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98" name="executor.py"/>
          <p:cNvSpPr txBox="1"/>
          <p:nvPr/>
        </p:nvSpPr>
        <p:spPr>
          <a:xfrm>
            <a:off x="6370319" y="2705100"/>
            <a:ext cx="166116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1E3A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executor.py</a:t>
            </a:r>
          </a:p>
        </p:txBody>
      </p:sp>
      <p:sp>
        <p:nvSpPr>
          <p:cNvPr id="299" name="Rectangle"/>
          <p:cNvSpPr/>
          <p:nvPr/>
        </p:nvSpPr>
        <p:spPr>
          <a:xfrm>
            <a:off x="8534400" y="2552700"/>
            <a:ext cx="2095500" cy="590550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00" name="finding.py"/>
          <p:cNvSpPr txBox="1"/>
          <p:nvPr/>
        </p:nvSpPr>
        <p:spPr>
          <a:xfrm>
            <a:off x="8751569" y="2705100"/>
            <a:ext cx="166116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finding.py</a:t>
            </a:r>
          </a:p>
        </p:txBody>
      </p:sp>
      <p:sp>
        <p:nvSpPr>
          <p:cNvPr id="301" name="Rectangle"/>
          <p:cNvSpPr/>
          <p:nvPr/>
        </p:nvSpPr>
        <p:spPr>
          <a:xfrm>
            <a:off x="6153150" y="3429000"/>
            <a:ext cx="2095500" cy="590550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02" name="risk.py"/>
          <p:cNvSpPr txBox="1"/>
          <p:nvPr/>
        </p:nvSpPr>
        <p:spPr>
          <a:xfrm>
            <a:off x="6370319" y="3581400"/>
            <a:ext cx="166116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risk.py</a:t>
            </a:r>
          </a:p>
        </p:txBody>
      </p:sp>
      <p:sp>
        <p:nvSpPr>
          <p:cNvPr id="303" name="Rectangle"/>
          <p:cNvSpPr/>
          <p:nvPr/>
        </p:nvSpPr>
        <p:spPr>
          <a:xfrm>
            <a:off x="8534400" y="3429000"/>
            <a:ext cx="2095500" cy="590550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04" name="config_doctor.py"/>
          <p:cNvSpPr txBox="1"/>
          <p:nvPr/>
        </p:nvSpPr>
        <p:spPr>
          <a:xfrm>
            <a:off x="8751569" y="3581400"/>
            <a:ext cx="166116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config_doctor.py</a:t>
            </a:r>
          </a:p>
        </p:txBody>
      </p:sp>
      <p:sp>
        <p:nvSpPr>
          <p:cNvPr id="305" name="AuthZ Scanner technical presentation"/>
          <p:cNvSpPr txBox="1"/>
          <p:nvPr/>
        </p:nvSpPr>
        <p:spPr>
          <a:xfrm>
            <a:off x="579119" y="6438900"/>
            <a:ext cx="4290062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AuthZ Scanner technical presentation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17"/>
          <p:cNvSpPr txBox="1"/>
          <p:nvPr/>
        </p:nvSpPr>
        <p:spPr>
          <a:xfrm>
            <a:off x="579119" y="342900"/>
            <a:ext cx="575312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1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310" name="HTTP Executor and Response Handling"/>
          <p:cNvSpPr txBox="1"/>
          <p:nvPr/>
        </p:nvSpPr>
        <p:spPr>
          <a:xfrm>
            <a:off x="579119" y="666750"/>
            <a:ext cx="10195562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3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HTTP Executor and Response Handling</a:t>
            </a:r>
          </a:p>
        </p:txBody>
      </p:sp>
      <p:sp>
        <p:nvSpPr>
          <p:cNvPr id="311" name="Rectangle"/>
          <p:cNvSpPr/>
          <p:nvPr/>
        </p:nvSpPr>
        <p:spPr>
          <a:xfrm>
            <a:off x="533400" y="1276350"/>
            <a:ext cx="1524000" cy="28575"/>
          </a:xfrm>
          <a:prstGeom prst="rect">
            <a:avLst/>
          </a:prstGeom>
          <a:solidFill>
            <a:srgbClr val="2563EB"/>
          </a:solidFill>
          <a:ln w="3175">
            <a:solidFill>
              <a:srgbClr val="2563E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12" name="• Attaches token, cookie or custom auth values…"/>
          <p:cNvSpPr txBox="1"/>
          <p:nvPr/>
        </p:nvSpPr>
        <p:spPr>
          <a:xfrm>
            <a:off x="750569" y="1752600"/>
            <a:ext cx="5052062" cy="409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Attaches token, cookie or custom auth values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Normalizes JSON and text responses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Supports refresh-token retry behavior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Keeps request and response details for evidence</a:t>
            </a:r>
          </a:p>
        </p:txBody>
      </p:sp>
      <p:sp>
        <p:nvSpPr>
          <p:cNvPr id="313" name="Rectangle"/>
          <p:cNvSpPr/>
          <p:nvPr/>
        </p:nvSpPr>
        <p:spPr>
          <a:xfrm>
            <a:off x="5981700" y="2428875"/>
            <a:ext cx="1328738" cy="952500"/>
          </a:xfrm>
          <a:prstGeom prst="rect">
            <a:avLst/>
          </a:prstGeom>
          <a:solidFill>
            <a:srgbClr val="EEF6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14" name="Module"/>
          <p:cNvSpPr txBox="1"/>
          <p:nvPr/>
        </p:nvSpPr>
        <p:spPr>
          <a:xfrm>
            <a:off x="6278728" y="2678881"/>
            <a:ext cx="894399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200">
                <a:solidFill>
                  <a:srgbClr val="1E3A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Module</a:t>
            </a:r>
          </a:p>
        </p:txBody>
      </p:sp>
      <p:sp>
        <p:nvSpPr>
          <p:cNvPr id="315" name="→"/>
          <p:cNvSpPr txBox="1"/>
          <p:nvPr/>
        </p:nvSpPr>
        <p:spPr>
          <a:xfrm>
            <a:off x="7251383" y="2705100"/>
            <a:ext cx="251461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316" name="Rectangle"/>
          <p:cNvSpPr/>
          <p:nvPr/>
        </p:nvSpPr>
        <p:spPr>
          <a:xfrm>
            <a:off x="7443788" y="2428875"/>
            <a:ext cx="1328739" cy="952500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17" name="Executor"/>
          <p:cNvSpPr txBox="1"/>
          <p:nvPr/>
        </p:nvSpPr>
        <p:spPr>
          <a:xfrm>
            <a:off x="7660958" y="2678881"/>
            <a:ext cx="894399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2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Executor</a:t>
            </a:r>
          </a:p>
        </p:txBody>
      </p:sp>
      <p:sp>
        <p:nvSpPr>
          <p:cNvPr id="318" name="→"/>
          <p:cNvSpPr txBox="1"/>
          <p:nvPr/>
        </p:nvSpPr>
        <p:spPr>
          <a:xfrm>
            <a:off x="8713469" y="2705100"/>
            <a:ext cx="251462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319" name="Rectangle"/>
          <p:cNvSpPr/>
          <p:nvPr/>
        </p:nvSpPr>
        <p:spPr>
          <a:xfrm>
            <a:off x="8905875" y="2428875"/>
            <a:ext cx="1328738" cy="952500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20" name="API"/>
          <p:cNvSpPr txBox="1"/>
          <p:nvPr/>
        </p:nvSpPr>
        <p:spPr>
          <a:xfrm>
            <a:off x="9123045" y="2678881"/>
            <a:ext cx="894399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2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API</a:t>
            </a:r>
          </a:p>
        </p:txBody>
      </p:sp>
      <p:sp>
        <p:nvSpPr>
          <p:cNvPr id="321" name="→"/>
          <p:cNvSpPr txBox="1"/>
          <p:nvPr/>
        </p:nvSpPr>
        <p:spPr>
          <a:xfrm>
            <a:off x="10175558" y="2705100"/>
            <a:ext cx="251461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322" name="Rectangle"/>
          <p:cNvSpPr/>
          <p:nvPr/>
        </p:nvSpPr>
        <p:spPr>
          <a:xfrm>
            <a:off x="10367963" y="2428875"/>
            <a:ext cx="1328739" cy="952500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23" name="Normalized Response"/>
          <p:cNvSpPr txBox="1"/>
          <p:nvPr/>
        </p:nvSpPr>
        <p:spPr>
          <a:xfrm>
            <a:off x="10505273" y="2581274"/>
            <a:ext cx="1340169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1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Normalized Response</a:t>
            </a:r>
          </a:p>
        </p:txBody>
      </p:sp>
      <p:sp>
        <p:nvSpPr>
          <p:cNvPr id="324" name="Rectangle"/>
          <p:cNvSpPr/>
          <p:nvPr/>
        </p:nvSpPr>
        <p:spPr>
          <a:xfrm>
            <a:off x="6667500" y="3905250"/>
            <a:ext cx="4000500" cy="400050"/>
          </a:xfrm>
          <a:prstGeom prst="rect">
            <a:avLst/>
          </a:prstGeom>
          <a:solidFill>
            <a:srgbClr val="EEF6FF"/>
          </a:solidFill>
          <a:ln w="3175">
            <a:solidFill>
              <a:srgbClr val="EEF6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25" name="auth header / cookie / refresh retry handled centrally"/>
          <p:cNvSpPr txBox="1"/>
          <p:nvPr/>
        </p:nvSpPr>
        <p:spPr>
          <a:xfrm>
            <a:off x="6789419" y="3952875"/>
            <a:ext cx="375666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100">
                <a:solidFill>
                  <a:srgbClr val="1E3A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auth header / cookie / refresh retry handled centrally</a:t>
            </a:r>
          </a:p>
        </p:txBody>
      </p:sp>
      <p:sp>
        <p:nvSpPr>
          <p:cNvPr id="326" name="AuthZ Scanner technical presentation"/>
          <p:cNvSpPr txBox="1"/>
          <p:nvPr/>
        </p:nvSpPr>
        <p:spPr>
          <a:xfrm>
            <a:off x="579119" y="6438900"/>
            <a:ext cx="4290062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AuthZ Scanner technical presentation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18"/>
          <p:cNvSpPr txBox="1"/>
          <p:nvPr/>
        </p:nvSpPr>
        <p:spPr>
          <a:xfrm>
            <a:off x="579119" y="342900"/>
            <a:ext cx="575312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1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18</a:t>
            </a:r>
          </a:p>
        </p:txBody>
      </p:sp>
      <p:sp>
        <p:nvSpPr>
          <p:cNvPr id="331" name="BOLA Testing Module"/>
          <p:cNvSpPr txBox="1"/>
          <p:nvPr/>
        </p:nvSpPr>
        <p:spPr>
          <a:xfrm>
            <a:off x="579119" y="666750"/>
            <a:ext cx="10195562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3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BOLA Testing Module</a:t>
            </a:r>
          </a:p>
        </p:txBody>
      </p:sp>
      <p:sp>
        <p:nvSpPr>
          <p:cNvPr id="332" name="Rectangle"/>
          <p:cNvSpPr/>
          <p:nvPr/>
        </p:nvSpPr>
        <p:spPr>
          <a:xfrm>
            <a:off x="533400" y="1276350"/>
            <a:ext cx="1524000" cy="28575"/>
          </a:xfrm>
          <a:prstGeom prst="rect">
            <a:avLst/>
          </a:prstGeom>
          <a:solidFill>
            <a:srgbClr val="2563EB"/>
          </a:solidFill>
          <a:ln w="3175">
            <a:solidFill>
              <a:srgbClr val="2563E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33" name="• Select two identities with the same role…"/>
          <p:cNvSpPr txBox="1"/>
          <p:nvPr/>
        </p:nvSpPr>
        <p:spPr>
          <a:xfrm>
            <a:off x="750569" y="1752600"/>
            <a:ext cx="5052062" cy="409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Select two identities with the same role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Find a resource owned by identity A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Request that resource as identity B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Report when the API allows cross-user access</a:t>
            </a:r>
          </a:p>
        </p:txBody>
      </p:sp>
      <p:sp>
        <p:nvSpPr>
          <p:cNvPr id="334" name="Rectangle"/>
          <p:cNvSpPr/>
          <p:nvPr/>
        </p:nvSpPr>
        <p:spPr>
          <a:xfrm>
            <a:off x="6019800" y="1952625"/>
            <a:ext cx="2095500" cy="1381125"/>
          </a:xfrm>
          <a:prstGeom prst="rect">
            <a:avLst/>
          </a:prstGeom>
          <a:solidFill>
            <a:srgbClr val="ECFDF5"/>
          </a:solidFill>
          <a:ln w="11430">
            <a:solidFill>
              <a:srgbClr val="86EFA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35" name="Owner User"/>
          <p:cNvSpPr txBox="1"/>
          <p:nvPr/>
        </p:nvSpPr>
        <p:spPr>
          <a:xfrm>
            <a:off x="6236969" y="2105025"/>
            <a:ext cx="166116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16653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Owner User</a:t>
            </a:r>
          </a:p>
        </p:txBody>
      </p:sp>
      <p:sp>
        <p:nvSpPr>
          <p:cNvPr id="336" name="userA owns…"/>
          <p:cNvSpPr txBox="1"/>
          <p:nvPr/>
        </p:nvSpPr>
        <p:spPr>
          <a:xfrm>
            <a:off x="6236969" y="2486025"/>
            <a:ext cx="1661162" cy="733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userA owns</a:t>
            </a:r>
          </a:p>
          <a:p>
            <a:pPr>
              <a:defRPr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Order #1001</a:t>
            </a:r>
          </a:p>
        </p:txBody>
      </p:sp>
      <p:sp>
        <p:nvSpPr>
          <p:cNvPr id="337" name="→"/>
          <p:cNvSpPr txBox="1"/>
          <p:nvPr/>
        </p:nvSpPr>
        <p:spPr>
          <a:xfrm>
            <a:off x="8294369" y="2400300"/>
            <a:ext cx="422912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2100">
                <a:solidFill>
                  <a:srgbClr val="991B1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338" name="Rectangle"/>
          <p:cNvSpPr/>
          <p:nvPr/>
        </p:nvSpPr>
        <p:spPr>
          <a:xfrm>
            <a:off x="8953500" y="1952625"/>
            <a:ext cx="2381250" cy="1381125"/>
          </a:xfrm>
          <a:prstGeom prst="rect">
            <a:avLst/>
          </a:prstGeom>
          <a:solidFill>
            <a:srgbClr val="FEF2F2"/>
          </a:solidFill>
          <a:ln w="11430">
            <a:solidFill>
              <a:srgbClr val="FCA5A5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39" name="Attacker User"/>
          <p:cNvSpPr txBox="1"/>
          <p:nvPr/>
        </p:nvSpPr>
        <p:spPr>
          <a:xfrm>
            <a:off x="9170669" y="2105025"/>
            <a:ext cx="194691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991B1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Attacker User</a:t>
            </a:r>
          </a:p>
        </p:txBody>
      </p:sp>
      <p:sp>
        <p:nvSpPr>
          <p:cNvPr id="340" name="userB requests…"/>
          <p:cNvSpPr txBox="1"/>
          <p:nvPr/>
        </p:nvSpPr>
        <p:spPr>
          <a:xfrm>
            <a:off x="9170669" y="2486025"/>
            <a:ext cx="1946912" cy="733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userB requests</a:t>
            </a:r>
          </a:p>
          <a:p>
            <a:pPr>
              <a:defRPr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the same order</a:t>
            </a:r>
          </a:p>
        </p:txBody>
      </p:sp>
      <p:sp>
        <p:nvSpPr>
          <p:cNvPr id="341" name="Rectangle"/>
          <p:cNvSpPr/>
          <p:nvPr/>
        </p:nvSpPr>
        <p:spPr>
          <a:xfrm>
            <a:off x="6019800" y="3857625"/>
            <a:ext cx="2095500" cy="952500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42" name="Expected"/>
          <p:cNvSpPr txBox="1"/>
          <p:nvPr/>
        </p:nvSpPr>
        <p:spPr>
          <a:xfrm>
            <a:off x="6236969" y="4010025"/>
            <a:ext cx="1661162" cy="3105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4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343" name="403 / 404"/>
          <p:cNvSpPr txBox="1"/>
          <p:nvPr/>
        </p:nvSpPr>
        <p:spPr>
          <a:xfrm>
            <a:off x="6236969" y="4391025"/>
            <a:ext cx="166116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403 / 404</a:t>
            </a:r>
          </a:p>
        </p:txBody>
      </p:sp>
      <p:sp>
        <p:nvSpPr>
          <p:cNvPr id="344" name="Rectangle"/>
          <p:cNvSpPr/>
          <p:nvPr/>
        </p:nvSpPr>
        <p:spPr>
          <a:xfrm>
            <a:off x="8953500" y="3857625"/>
            <a:ext cx="2381250" cy="952500"/>
          </a:xfrm>
          <a:prstGeom prst="rect">
            <a:avLst/>
          </a:prstGeom>
          <a:solidFill>
            <a:srgbClr val="FEF2F2"/>
          </a:solidFill>
          <a:ln w="11430">
            <a:solidFill>
              <a:srgbClr val="FCA5A5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45" name="Observed"/>
          <p:cNvSpPr txBox="1"/>
          <p:nvPr/>
        </p:nvSpPr>
        <p:spPr>
          <a:xfrm>
            <a:off x="9170669" y="4010025"/>
            <a:ext cx="1946912" cy="3105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400">
                <a:solidFill>
                  <a:srgbClr val="991B1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346" name="200 OK"/>
          <p:cNvSpPr txBox="1"/>
          <p:nvPr/>
        </p:nvSpPr>
        <p:spPr>
          <a:xfrm>
            <a:off x="9170669" y="4391025"/>
            <a:ext cx="194691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200 OK</a:t>
            </a:r>
          </a:p>
        </p:txBody>
      </p:sp>
      <p:sp>
        <p:nvSpPr>
          <p:cNvPr id="347" name="Rectangle"/>
          <p:cNvSpPr/>
          <p:nvPr/>
        </p:nvSpPr>
        <p:spPr>
          <a:xfrm>
            <a:off x="6781800" y="5219700"/>
            <a:ext cx="4000500" cy="438150"/>
          </a:xfrm>
          <a:prstGeom prst="rect">
            <a:avLst/>
          </a:prstGeom>
          <a:solidFill>
            <a:srgbClr val="FEF3C7"/>
          </a:solidFill>
          <a:ln w="3175">
            <a:solidFill>
              <a:srgbClr val="FEF3C7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48" name="Allowed cross-user access becomes a BOLA finding"/>
          <p:cNvSpPr txBox="1"/>
          <p:nvPr/>
        </p:nvSpPr>
        <p:spPr>
          <a:xfrm>
            <a:off x="6903719" y="5267325"/>
            <a:ext cx="3756662" cy="361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100">
                <a:solidFill>
                  <a:srgbClr val="92400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Allowed cross-user access becomes a BOLA finding</a:t>
            </a:r>
          </a:p>
        </p:txBody>
      </p:sp>
      <p:sp>
        <p:nvSpPr>
          <p:cNvPr id="349" name="AuthZ Scanner technical presentation"/>
          <p:cNvSpPr txBox="1"/>
          <p:nvPr/>
        </p:nvSpPr>
        <p:spPr>
          <a:xfrm>
            <a:off x="579119" y="6438900"/>
            <a:ext cx="4290062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AuthZ Scanner technical presentation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19"/>
          <p:cNvSpPr txBox="1"/>
          <p:nvPr/>
        </p:nvSpPr>
        <p:spPr>
          <a:xfrm>
            <a:off x="579119" y="342900"/>
            <a:ext cx="575312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1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19</a:t>
            </a:r>
          </a:p>
        </p:txBody>
      </p:sp>
      <p:sp>
        <p:nvSpPr>
          <p:cNvPr id="354" name="BFLA Testing Module"/>
          <p:cNvSpPr txBox="1"/>
          <p:nvPr/>
        </p:nvSpPr>
        <p:spPr>
          <a:xfrm>
            <a:off x="579119" y="666750"/>
            <a:ext cx="10195562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3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BFLA Testing Module</a:t>
            </a:r>
          </a:p>
        </p:txBody>
      </p:sp>
      <p:sp>
        <p:nvSpPr>
          <p:cNvPr id="355" name="Rectangle"/>
          <p:cNvSpPr/>
          <p:nvPr/>
        </p:nvSpPr>
        <p:spPr>
          <a:xfrm>
            <a:off x="533400" y="1276350"/>
            <a:ext cx="1524000" cy="28575"/>
          </a:xfrm>
          <a:prstGeom prst="rect">
            <a:avLst/>
          </a:prstGeom>
          <a:solidFill>
            <a:srgbClr val="2563EB"/>
          </a:solidFill>
          <a:ln w="3175">
            <a:solidFill>
              <a:srgbClr val="2563E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56" name="• Select a low-privilege identity…"/>
          <p:cNvSpPr txBox="1"/>
          <p:nvPr/>
        </p:nvSpPr>
        <p:spPr>
          <a:xfrm>
            <a:off x="750569" y="1752600"/>
            <a:ext cx="5052062" cy="409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Select a low-privilege identity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Call a privileged function or endpoint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Compare observed status with expected denial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Report role or function-level bypass</a:t>
            </a:r>
          </a:p>
        </p:txBody>
      </p:sp>
      <p:sp>
        <p:nvSpPr>
          <p:cNvPr id="357" name="Rectangle"/>
          <p:cNvSpPr/>
          <p:nvPr/>
        </p:nvSpPr>
        <p:spPr>
          <a:xfrm>
            <a:off x="5810250" y="2381250"/>
            <a:ext cx="1083945" cy="1000125"/>
          </a:xfrm>
          <a:prstGeom prst="rect">
            <a:avLst/>
          </a:prstGeom>
          <a:solidFill>
            <a:srgbClr val="EEF6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58" name="customer"/>
          <p:cNvSpPr txBox="1"/>
          <p:nvPr/>
        </p:nvSpPr>
        <p:spPr>
          <a:xfrm>
            <a:off x="5910737" y="2666750"/>
            <a:ext cx="1095376" cy="7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100">
                <a:solidFill>
                  <a:srgbClr val="1E3A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359" name="→"/>
          <p:cNvSpPr txBox="1"/>
          <p:nvPr/>
        </p:nvSpPr>
        <p:spPr>
          <a:xfrm>
            <a:off x="6835139" y="2681288"/>
            <a:ext cx="25146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360" name="Rectangle"/>
          <p:cNvSpPr/>
          <p:nvPr/>
        </p:nvSpPr>
        <p:spPr>
          <a:xfrm>
            <a:off x="7027544" y="2381250"/>
            <a:ext cx="1083946" cy="1000125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61" name="GET /admin/users"/>
          <p:cNvSpPr txBox="1"/>
          <p:nvPr/>
        </p:nvSpPr>
        <p:spPr>
          <a:xfrm>
            <a:off x="7186374" y="2482115"/>
            <a:ext cx="872490" cy="628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1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GET /admin/users</a:t>
            </a:r>
          </a:p>
        </p:txBody>
      </p:sp>
      <p:sp>
        <p:nvSpPr>
          <p:cNvPr id="362" name="→"/>
          <p:cNvSpPr txBox="1"/>
          <p:nvPr/>
        </p:nvSpPr>
        <p:spPr>
          <a:xfrm>
            <a:off x="8052435" y="2681288"/>
            <a:ext cx="25146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363" name="Rectangle"/>
          <p:cNvSpPr/>
          <p:nvPr/>
        </p:nvSpPr>
        <p:spPr>
          <a:xfrm>
            <a:off x="8244840" y="2381250"/>
            <a:ext cx="1083946" cy="1000125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64" name="Expected denied"/>
          <p:cNvSpPr txBox="1"/>
          <p:nvPr/>
        </p:nvSpPr>
        <p:spPr>
          <a:xfrm>
            <a:off x="8345328" y="2566987"/>
            <a:ext cx="994411" cy="628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1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Expected denied</a:t>
            </a:r>
          </a:p>
        </p:txBody>
      </p:sp>
      <p:sp>
        <p:nvSpPr>
          <p:cNvPr id="365" name="→"/>
          <p:cNvSpPr txBox="1"/>
          <p:nvPr/>
        </p:nvSpPr>
        <p:spPr>
          <a:xfrm>
            <a:off x="9269729" y="2681288"/>
            <a:ext cx="25146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366" name="Rectangle"/>
          <p:cNvSpPr/>
          <p:nvPr/>
        </p:nvSpPr>
        <p:spPr>
          <a:xfrm>
            <a:off x="9462134" y="2381250"/>
            <a:ext cx="1083946" cy="1000125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67" name="Observed allowed"/>
          <p:cNvSpPr txBox="1"/>
          <p:nvPr/>
        </p:nvSpPr>
        <p:spPr>
          <a:xfrm>
            <a:off x="9585960" y="2533649"/>
            <a:ext cx="836295" cy="525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1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Observed allowed</a:t>
            </a:r>
          </a:p>
        </p:txBody>
      </p:sp>
      <p:sp>
        <p:nvSpPr>
          <p:cNvPr id="368" name="→"/>
          <p:cNvSpPr txBox="1"/>
          <p:nvPr/>
        </p:nvSpPr>
        <p:spPr>
          <a:xfrm>
            <a:off x="10487025" y="2681288"/>
            <a:ext cx="25146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369" name="Rectangle"/>
          <p:cNvSpPr/>
          <p:nvPr/>
        </p:nvSpPr>
        <p:spPr>
          <a:xfrm>
            <a:off x="10679430" y="2381250"/>
            <a:ext cx="1083946" cy="1000125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70" name="BFLA finding"/>
          <p:cNvSpPr txBox="1"/>
          <p:nvPr/>
        </p:nvSpPr>
        <p:spPr>
          <a:xfrm>
            <a:off x="10785157" y="2586890"/>
            <a:ext cx="87249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1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BFLA finding</a:t>
            </a:r>
          </a:p>
        </p:txBody>
      </p:sp>
      <p:sp>
        <p:nvSpPr>
          <p:cNvPr id="371" name="AuthZ Scanner technical presentation"/>
          <p:cNvSpPr txBox="1"/>
          <p:nvPr/>
        </p:nvSpPr>
        <p:spPr>
          <a:xfrm>
            <a:off x="579119" y="6438900"/>
            <a:ext cx="4290062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AuthZ Scanner technical presentation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20"/>
          <p:cNvSpPr txBox="1"/>
          <p:nvPr/>
        </p:nvSpPr>
        <p:spPr>
          <a:xfrm>
            <a:off x="579119" y="342900"/>
            <a:ext cx="575312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1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20</a:t>
            </a:r>
          </a:p>
        </p:txBody>
      </p:sp>
      <p:sp>
        <p:nvSpPr>
          <p:cNvPr id="376" name="Property Authorization and Mass Assignment"/>
          <p:cNvSpPr txBox="1"/>
          <p:nvPr/>
        </p:nvSpPr>
        <p:spPr>
          <a:xfrm>
            <a:off x="579119" y="666750"/>
            <a:ext cx="10195562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3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Property Authorization and Mass Assignment</a:t>
            </a:r>
          </a:p>
        </p:txBody>
      </p:sp>
      <p:sp>
        <p:nvSpPr>
          <p:cNvPr id="377" name="Rectangle"/>
          <p:cNvSpPr/>
          <p:nvPr/>
        </p:nvSpPr>
        <p:spPr>
          <a:xfrm>
            <a:off x="533400" y="1276350"/>
            <a:ext cx="1524000" cy="28575"/>
          </a:xfrm>
          <a:prstGeom prst="rect">
            <a:avLst/>
          </a:prstGeom>
          <a:solidFill>
            <a:srgbClr val="2563EB"/>
          </a:solidFill>
          <a:ln w="3175">
            <a:solidFill>
              <a:srgbClr val="2563E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78" name="• Tests server-controlled fields in request bodies…"/>
          <p:cNvSpPr txBox="1"/>
          <p:nvPr/>
        </p:nvSpPr>
        <p:spPr>
          <a:xfrm>
            <a:off x="750569" y="1752600"/>
            <a:ext cx="5052062" cy="409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Tests server-controlled fields in request bodies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Tries multiple payloads per test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Verifies role, status, ownership or price manipulation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Marks mutation-capable tests as destructive</a:t>
            </a:r>
          </a:p>
        </p:txBody>
      </p:sp>
      <p:sp>
        <p:nvSpPr>
          <p:cNvPr id="379" name="Rectangle"/>
          <p:cNvSpPr/>
          <p:nvPr/>
        </p:nvSpPr>
        <p:spPr>
          <a:xfrm>
            <a:off x="6191250" y="1809750"/>
            <a:ext cx="2381250" cy="2476500"/>
          </a:xfrm>
          <a:prstGeom prst="rect">
            <a:avLst/>
          </a:prstGeom>
          <a:solidFill>
            <a:srgbClr val="FEF2F2"/>
          </a:solidFill>
          <a:ln w="11430">
            <a:solidFill>
              <a:srgbClr val="FCA5A5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80" name="Payload Attempts"/>
          <p:cNvSpPr txBox="1"/>
          <p:nvPr/>
        </p:nvSpPr>
        <p:spPr>
          <a:xfrm>
            <a:off x="6408419" y="1962150"/>
            <a:ext cx="194691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991B1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Payload Attempts</a:t>
            </a:r>
          </a:p>
        </p:txBody>
      </p:sp>
      <p:sp>
        <p:nvSpPr>
          <p:cNvPr id="381" name="{ role: admin }…"/>
          <p:cNvSpPr txBox="1"/>
          <p:nvPr/>
        </p:nvSpPr>
        <p:spPr>
          <a:xfrm>
            <a:off x="6408419" y="2343150"/>
            <a:ext cx="1946912" cy="1828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{ role: admin }</a:t>
            </a:r>
          </a:p>
          <a:p>
            <a:pPr>
              <a:defRPr sz="13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{ status: paid }</a:t>
            </a:r>
          </a:p>
          <a:p>
            <a:pPr>
              <a:defRPr sz="13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{ owner_id: other_user }</a:t>
            </a:r>
          </a:p>
          <a:p>
            <a:pPr>
              <a:defRPr sz="13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{ total_price: 0 }</a:t>
            </a:r>
          </a:p>
        </p:txBody>
      </p:sp>
      <p:sp>
        <p:nvSpPr>
          <p:cNvPr id="382" name="→"/>
          <p:cNvSpPr txBox="1"/>
          <p:nvPr/>
        </p:nvSpPr>
        <p:spPr>
          <a:xfrm>
            <a:off x="8694419" y="2781300"/>
            <a:ext cx="422912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21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383" name="Rectangle"/>
          <p:cNvSpPr/>
          <p:nvPr/>
        </p:nvSpPr>
        <p:spPr>
          <a:xfrm>
            <a:off x="9334500" y="2190750"/>
            <a:ext cx="2095500" cy="1714500"/>
          </a:xfrm>
          <a:prstGeom prst="rect">
            <a:avLst/>
          </a:prstGeom>
          <a:solidFill>
            <a:srgbClr val="ECFDF5"/>
          </a:solidFill>
          <a:ln w="11430">
            <a:solidFill>
              <a:srgbClr val="86EFA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84" name="Authorization Check"/>
          <p:cNvSpPr txBox="1"/>
          <p:nvPr/>
        </p:nvSpPr>
        <p:spPr>
          <a:xfrm>
            <a:off x="9551669" y="2343150"/>
            <a:ext cx="166116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200">
                <a:solidFill>
                  <a:srgbClr val="16653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Authorization Check</a:t>
            </a:r>
          </a:p>
        </p:txBody>
      </p:sp>
      <p:sp>
        <p:nvSpPr>
          <p:cNvPr id="385" name="Server must reject client-side changes to protected fields"/>
          <p:cNvSpPr txBox="1"/>
          <p:nvPr/>
        </p:nvSpPr>
        <p:spPr>
          <a:xfrm>
            <a:off x="9551669" y="2724150"/>
            <a:ext cx="1661162" cy="1066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5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Server must reject client-side changes to protected fields</a:t>
            </a:r>
          </a:p>
        </p:txBody>
      </p:sp>
      <p:sp>
        <p:nvSpPr>
          <p:cNvPr id="386" name="AuthZ Scanner technical presentation"/>
          <p:cNvSpPr txBox="1"/>
          <p:nvPr/>
        </p:nvSpPr>
        <p:spPr>
          <a:xfrm>
            <a:off x="579119" y="6438900"/>
            <a:ext cx="4290062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AuthZ Scanner technical presentation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21"/>
          <p:cNvSpPr txBox="1"/>
          <p:nvPr/>
        </p:nvSpPr>
        <p:spPr>
          <a:xfrm>
            <a:off x="579119" y="342900"/>
            <a:ext cx="575312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1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21</a:t>
            </a:r>
          </a:p>
        </p:txBody>
      </p:sp>
      <p:sp>
        <p:nvSpPr>
          <p:cNvPr id="391" name="Excessive Data Exposure"/>
          <p:cNvSpPr txBox="1"/>
          <p:nvPr/>
        </p:nvSpPr>
        <p:spPr>
          <a:xfrm>
            <a:off x="579119" y="666750"/>
            <a:ext cx="10195562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3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Excessive Data Exposure</a:t>
            </a:r>
          </a:p>
        </p:txBody>
      </p:sp>
      <p:sp>
        <p:nvSpPr>
          <p:cNvPr id="392" name="Rectangle"/>
          <p:cNvSpPr/>
          <p:nvPr/>
        </p:nvSpPr>
        <p:spPr>
          <a:xfrm>
            <a:off x="533400" y="1276350"/>
            <a:ext cx="1524000" cy="28575"/>
          </a:xfrm>
          <a:prstGeom prst="rect">
            <a:avLst/>
          </a:prstGeom>
          <a:solidFill>
            <a:srgbClr val="2563EB"/>
          </a:solidFill>
          <a:ln w="3175">
            <a:solidFill>
              <a:srgbClr val="2563E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93" name="• Status code can be correct while the body is unsafe…"/>
          <p:cNvSpPr txBox="1"/>
          <p:nvPr/>
        </p:nvSpPr>
        <p:spPr>
          <a:xfrm>
            <a:off x="750569" y="1752600"/>
            <a:ext cx="5052062" cy="409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Status code can be correct while the body is unsafe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Checks for sensitive fields such as password_hash, token and internal_notes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Reports exposed field paths in evidence</a:t>
            </a:r>
          </a:p>
        </p:txBody>
      </p:sp>
      <p:sp>
        <p:nvSpPr>
          <p:cNvPr id="394" name="Rectangle"/>
          <p:cNvSpPr/>
          <p:nvPr/>
        </p:nvSpPr>
        <p:spPr>
          <a:xfrm>
            <a:off x="6191250" y="2143125"/>
            <a:ext cx="2095500" cy="1619250"/>
          </a:xfrm>
          <a:prstGeom prst="rect">
            <a:avLst/>
          </a:prstGeom>
          <a:solidFill>
            <a:srgbClr val="ECFDF5"/>
          </a:solidFill>
          <a:ln w="11430">
            <a:solidFill>
              <a:srgbClr val="86EFA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95" name="Status Code"/>
          <p:cNvSpPr txBox="1"/>
          <p:nvPr/>
        </p:nvSpPr>
        <p:spPr>
          <a:xfrm>
            <a:off x="6408419" y="2295525"/>
            <a:ext cx="166116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16653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Status Code</a:t>
            </a:r>
          </a:p>
        </p:txBody>
      </p:sp>
      <p:sp>
        <p:nvSpPr>
          <p:cNvPr id="396" name="200 OK…"/>
          <p:cNvSpPr txBox="1"/>
          <p:nvPr/>
        </p:nvSpPr>
        <p:spPr>
          <a:xfrm>
            <a:off x="6408419" y="2676525"/>
            <a:ext cx="1661162" cy="971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15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200 OK</a:t>
            </a:r>
          </a:p>
          <a:p>
            <a:pPr>
              <a:defRPr sz="15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Can still be expected</a:t>
            </a:r>
          </a:p>
        </p:txBody>
      </p:sp>
      <p:sp>
        <p:nvSpPr>
          <p:cNvPr id="397" name="Rectangle"/>
          <p:cNvSpPr/>
          <p:nvPr/>
        </p:nvSpPr>
        <p:spPr>
          <a:xfrm>
            <a:off x="9048750" y="2143125"/>
            <a:ext cx="2095500" cy="1619250"/>
          </a:xfrm>
          <a:prstGeom prst="rect">
            <a:avLst/>
          </a:prstGeom>
          <a:solidFill>
            <a:srgbClr val="FEF2F2"/>
          </a:solidFill>
          <a:ln w="11430">
            <a:solidFill>
              <a:srgbClr val="FCA5A5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98" name="Response Body"/>
          <p:cNvSpPr txBox="1"/>
          <p:nvPr/>
        </p:nvSpPr>
        <p:spPr>
          <a:xfrm>
            <a:off x="9265919" y="2295525"/>
            <a:ext cx="166116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991B1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Response Body</a:t>
            </a:r>
          </a:p>
        </p:txBody>
      </p:sp>
      <p:sp>
        <p:nvSpPr>
          <p:cNvPr id="399" name="password_hash…"/>
          <p:cNvSpPr txBox="1"/>
          <p:nvPr/>
        </p:nvSpPr>
        <p:spPr>
          <a:xfrm>
            <a:off x="9265919" y="2676525"/>
            <a:ext cx="1661162" cy="971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15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password_hash</a:t>
            </a:r>
          </a:p>
          <a:p>
            <a:pPr>
              <a:defRPr sz="15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token</a:t>
            </a:r>
          </a:p>
          <a:p>
            <a:pPr>
              <a:defRPr sz="15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internal_notes</a:t>
            </a:r>
          </a:p>
        </p:txBody>
      </p:sp>
      <p:sp>
        <p:nvSpPr>
          <p:cNvPr id="400" name="≠"/>
          <p:cNvSpPr txBox="1"/>
          <p:nvPr/>
        </p:nvSpPr>
        <p:spPr>
          <a:xfrm>
            <a:off x="8465819" y="2609850"/>
            <a:ext cx="441962" cy="571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31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≠</a:t>
            </a:r>
          </a:p>
        </p:txBody>
      </p:sp>
      <p:sp>
        <p:nvSpPr>
          <p:cNvPr id="401" name="AuthZ Scanner technical presentation"/>
          <p:cNvSpPr txBox="1"/>
          <p:nvPr/>
        </p:nvSpPr>
        <p:spPr>
          <a:xfrm>
            <a:off x="579119" y="6438900"/>
            <a:ext cx="4290062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AuthZ Scanner technical presentation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22"/>
          <p:cNvSpPr txBox="1"/>
          <p:nvPr/>
        </p:nvSpPr>
        <p:spPr>
          <a:xfrm>
            <a:off x="579119" y="342900"/>
            <a:ext cx="575312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1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22</a:t>
            </a:r>
          </a:p>
        </p:txBody>
      </p:sp>
      <p:sp>
        <p:nvSpPr>
          <p:cNvPr id="406" name="Response Body Matchers"/>
          <p:cNvSpPr txBox="1"/>
          <p:nvPr/>
        </p:nvSpPr>
        <p:spPr>
          <a:xfrm>
            <a:off x="579119" y="666750"/>
            <a:ext cx="10195562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3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Response Body Matchers</a:t>
            </a:r>
          </a:p>
        </p:txBody>
      </p:sp>
      <p:sp>
        <p:nvSpPr>
          <p:cNvPr id="407" name="Rectangle"/>
          <p:cNvSpPr/>
          <p:nvPr/>
        </p:nvSpPr>
        <p:spPr>
          <a:xfrm>
            <a:off x="533400" y="1276350"/>
            <a:ext cx="1524000" cy="28575"/>
          </a:xfrm>
          <a:prstGeom prst="rect">
            <a:avLst/>
          </a:prstGeom>
          <a:solidFill>
            <a:srgbClr val="2563EB"/>
          </a:solidFill>
          <a:ln w="3175">
            <a:solidFill>
              <a:srgbClr val="2563E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08" name="• Defines response security contracts in YAML…"/>
          <p:cNvSpPr txBox="1"/>
          <p:nvPr/>
        </p:nvSpPr>
        <p:spPr>
          <a:xfrm>
            <a:off x="750569" y="1752600"/>
            <a:ext cx="5052062" cy="409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Defines response security contracts in YAML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Checks required or forbidden text in the body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Checks expected or forbidden field values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Creates Response Body Mismatch findings</a:t>
            </a:r>
          </a:p>
        </p:txBody>
      </p:sp>
      <p:sp>
        <p:nvSpPr>
          <p:cNvPr id="409" name="Square"/>
          <p:cNvSpPr/>
          <p:nvPr/>
        </p:nvSpPr>
        <p:spPr>
          <a:xfrm>
            <a:off x="6076950" y="1733550"/>
            <a:ext cx="2381250" cy="2381250"/>
          </a:xfrm>
          <a:prstGeom prst="rect">
            <a:avLst/>
          </a:prstGeom>
          <a:solidFill>
            <a:srgbClr val="111827"/>
          </a:solidFill>
          <a:ln w="11430">
            <a:solidFill>
              <a:srgbClr val="111827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10" name="YAML Matcher"/>
          <p:cNvSpPr txBox="1"/>
          <p:nvPr/>
        </p:nvSpPr>
        <p:spPr>
          <a:xfrm>
            <a:off x="6294119" y="1885950"/>
            <a:ext cx="194691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BFDBF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YAML Matcher</a:t>
            </a:r>
          </a:p>
        </p:txBody>
      </p:sp>
      <p:sp>
        <p:nvSpPr>
          <p:cNvPr id="411" name="body_should_not_contain:…"/>
          <p:cNvSpPr txBox="1"/>
          <p:nvPr/>
        </p:nvSpPr>
        <p:spPr>
          <a:xfrm>
            <a:off x="6294119" y="2266950"/>
            <a:ext cx="1946912" cy="1733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1200">
                <a:solidFill>
                  <a:srgbClr val="E5E7EB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body_should_not_contain:</a:t>
            </a:r>
          </a:p>
          <a:p>
            <a:pPr>
              <a:defRPr sz="1200">
                <a:solidFill>
                  <a:srgbClr val="E5E7EB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  - internal_notes</a:t>
            </a:r>
          </a:p>
          <a:p>
            <a:pPr>
              <a:defRPr sz="1200">
                <a:solidFill>
                  <a:srgbClr val="E5E7EB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field_should_not_equal:</a:t>
            </a:r>
          </a:p>
          <a:p>
            <a:pPr>
              <a:defRPr sz="1200">
                <a:solidFill>
                  <a:srgbClr val="E5E7EB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  status: internal_only</a:t>
            </a:r>
          </a:p>
        </p:txBody>
      </p:sp>
      <p:sp>
        <p:nvSpPr>
          <p:cNvPr id="412" name="→"/>
          <p:cNvSpPr txBox="1"/>
          <p:nvPr/>
        </p:nvSpPr>
        <p:spPr>
          <a:xfrm>
            <a:off x="8618219" y="2724150"/>
            <a:ext cx="441962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21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413" name="Rectangle"/>
          <p:cNvSpPr/>
          <p:nvPr/>
        </p:nvSpPr>
        <p:spPr>
          <a:xfrm>
            <a:off x="9277350" y="2266950"/>
            <a:ext cx="2095500" cy="1524000"/>
          </a:xfrm>
          <a:prstGeom prst="rect">
            <a:avLst/>
          </a:prstGeom>
          <a:solidFill>
            <a:srgbClr val="FEF2F2"/>
          </a:solidFill>
          <a:ln w="11430">
            <a:solidFill>
              <a:srgbClr val="FCA5A5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14" name="Finding"/>
          <p:cNvSpPr txBox="1"/>
          <p:nvPr/>
        </p:nvSpPr>
        <p:spPr>
          <a:xfrm>
            <a:off x="9494519" y="2419350"/>
            <a:ext cx="166116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991B1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Finding</a:t>
            </a:r>
          </a:p>
        </p:txBody>
      </p:sp>
      <p:sp>
        <p:nvSpPr>
          <p:cNvPr id="415" name="Response body violates expected security contract"/>
          <p:cNvSpPr txBox="1"/>
          <p:nvPr/>
        </p:nvSpPr>
        <p:spPr>
          <a:xfrm>
            <a:off x="9494519" y="2800350"/>
            <a:ext cx="1661162" cy="876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4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Response body violates expected security contract</a:t>
            </a:r>
          </a:p>
        </p:txBody>
      </p:sp>
      <p:sp>
        <p:nvSpPr>
          <p:cNvPr id="416" name="AuthZ Scanner technical presentation"/>
          <p:cNvSpPr txBox="1"/>
          <p:nvPr/>
        </p:nvSpPr>
        <p:spPr>
          <a:xfrm>
            <a:off x="579119" y="6438900"/>
            <a:ext cx="4290062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AuthZ Scanner technical presentation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23"/>
          <p:cNvSpPr txBox="1"/>
          <p:nvPr/>
        </p:nvSpPr>
        <p:spPr>
          <a:xfrm>
            <a:off x="579119" y="342900"/>
            <a:ext cx="575312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1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23</a:t>
            </a:r>
          </a:p>
        </p:txBody>
      </p:sp>
      <p:sp>
        <p:nvSpPr>
          <p:cNvPr id="421" name="Unauthenticated Access Testing"/>
          <p:cNvSpPr txBox="1"/>
          <p:nvPr/>
        </p:nvSpPr>
        <p:spPr>
          <a:xfrm>
            <a:off x="579119" y="666750"/>
            <a:ext cx="10195562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3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Unauthenticated Access Testing</a:t>
            </a:r>
          </a:p>
        </p:txBody>
      </p:sp>
      <p:sp>
        <p:nvSpPr>
          <p:cNvPr id="422" name="Rectangle"/>
          <p:cNvSpPr/>
          <p:nvPr/>
        </p:nvSpPr>
        <p:spPr>
          <a:xfrm>
            <a:off x="533400" y="1276350"/>
            <a:ext cx="1524000" cy="28575"/>
          </a:xfrm>
          <a:prstGeom prst="rect">
            <a:avLst/>
          </a:prstGeom>
          <a:solidFill>
            <a:srgbClr val="2563EB"/>
          </a:solidFill>
          <a:ln w="3175">
            <a:solidFill>
              <a:srgbClr val="2563E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23" name="• Sends requests without token or session…"/>
          <p:cNvSpPr txBox="1"/>
          <p:nvPr/>
        </p:nvSpPr>
        <p:spPr>
          <a:xfrm>
            <a:off x="750569" y="1752600"/>
            <a:ext cx="5052062" cy="409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Sends requests without token or session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Targets protected endpoints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Expects 401 or 403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Reports if anonymous access succeeds</a:t>
            </a:r>
          </a:p>
        </p:txBody>
      </p:sp>
      <p:sp>
        <p:nvSpPr>
          <p:cNvPr id="424" name="Rectangle"/>
          <p:cNvSpPr/>
          <p:nvPr/>
        </p:nvSpPr>
        <p:spPr>
          <a:xfrm>
            <a:off x="5810250" y="2381250"/>
            <a:ext cx="1083945" cy="1000125"/>
          </a:xfrm>
          <a:prstGeom prst="rect">
            <a:avLst/>
          </a:prstGeom>
          <a:solidFill>
            <a:srgbClr val="EEF6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25" name="No token"/>
          <p:cNvSpPr txBox="1"/>
          <p:nvPr/>
        </p:nvSpPr>
        <p:spPr>
          <a:xfrm>
            <a:off x="5975984" y="2576513"/>
            <a:ext cx="1095376" cy="628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100">
                <a:solidFill>
                  <a:srgbClr val="1E3A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No token</a:t>
            </a:r>
          </a:p>
        </p:txBody>
      </p:sp>
      <p:sp>
        <p:nvSpPr>
          <p:cNvPr id="426" name="→"/>
          <p:cNvSpPr txBox="1"/>
          <p:nvPr/>
        </p:nvSpPr>
        <p:spPr>
          <a:xfrm>
            <a:off x="6835139" y="2681288"/>
            <a:ext cx="25146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427" name="Rectangle"/>
          <p:cNvSpPr/>
          <p:nvPr/>
        </p:nvSpPr>
        <p:spPr>
          <a:xfrm>
            <a:off x="7027544" y="2381250"/>
            <a:ext cx="1083946" cy="1000125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28" name="Protected endpoint"/>
          <p:cNvSpPr txBox="1"/>
          <p:nvPr/>
        </p:nvSpPr>
        <p:spPr>
          <a:xfrm>
            <a:off x="7133272" y="2498156"/>
            <a:ext cx="1095376" cy="628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1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Protected endpoint</a:t>
            </a:r>
          </a:p>
        </p:txBody>
      </p:sp>
      <p:sp>
        <p:nvSpPr>
          <p:cNvPr id="429" name="→"/>
          <p:cNvSpPr txBox="1"/>
          <p:nvPr/>
        </p:nvSpPr>
        <p:spPr>
          <a:xfrm>
            <a:off x="8052435" y="2681288"/>
            <a:ext cx="25146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430" name="Rectangle"/>
          <p:cNvSpPr/>
          <p:nvPr/>
        </p:nvSpPr>
        <p:spPr>
          <a:xfrm>
            <a:off x="8244840" y="2381250"/>
            <a:ext cx="1083946" cy="1000125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31" name="Expected 401/403"/>
          <p:cNvSpPr txBox="1"/>
          <p:nvPr/>
        </p:nvSpPr>
        <p:spPr>
          <a:xfrm>
            <a:off x="8366282" y="2498156"/>
            <a:ext cx="1175388" cy="628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1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Expected 401/403</a:t>
            </a:r>
          </a:p>
        </p:txBody>
      </p:sp>
      <p:sp>
        <p:nvSpPr>
          <p:cNvPr id="432" name="→"/>
          <p:cNvSpPr txBox="1"/>
          <p:nvPr/>
        </p:nvSpPr>
        <p:spPr>
          <a:xfrm>
            <a:off x="9269729" y="2681288"/>
            <a:ext cx="25146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433" name="Rectangle"/>
          <p:cNvSpPr/>
          <p:nvPr/>
        </p:nvSpPr>
        <p:spPr>
          <a:xfrm>
            <a:off x="9462134" y="2381250"/>
            <a:ext cx="1083946" cy="1000125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34" name="Observed 200?"/>
          <p:cNvSpPr txBox="1"/>
          <p:nvPr/>
        </p:nvSpPr>
        <p:spPr>
          <a:xfrm>
            <a:off x="9456420" y="2622383"/>
            <a:ext cx="1175387" cy="7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1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Observed 200?</a:t>
            </a:r>
          </a:p>
        </p:txBody>
      </p:sp>
      <p:sp>
        <p:nvSpPr>
          <p:cNvPr id="435" name="→"/>
          <p:cNvSpPr txBox="1"/>
          <p:nvPr/>
        </p:nvSpPr>
        <p:spPr>
          <a:xfrm>
            <a:off x="10487025" y="2681288"/>
            <a:ext cx="25146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436" name="Rectangle"/>
          <p:cNvSpPr/>
          <p:nvPr/>
        </p:nvSpPr>
        <p:spPr>
          <a:xfrm>
            <a:off x="10679430" y="2381250"/>
            <a:ext cx="1083946" cy="1000125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37" name="Finding"/>
          <p:cNvSpPr txBox="1"/>
          <p:nvPr/>
        </p:nvSpPr>
        <p:spPr>
          <a:xfrm>
            <a:off x="10753726" y="2602480"/>
            <a:ext cx="872491" cy="557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2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Finding</a:t>
            </a:r>
          </a:p>
        </p:txBody>
      </p:sp>
      <p:sp>
        <p:nvSpPr>
          <p:cNvPr id="438" name="AuthZ Scanner technical presentation"/>
          <p:cNvSpPr txBox="1"/>
          <p:nvPr/>
        </p:nvSpPr>
        <p:spPr>
          <a:xfrm>
            <a:off x="579119" y="6438900"/>
            <a:ext cx="4290062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AuthZ Scanner technical presentation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24"/>
          <p:cNvSpPr txBox="1"/>
          <p:nvPr/>
        </p:nvSpPr>
        <p:spPr>
          <a:xfrm>
            <a:off x="579119" y="342900"/>
            <a:ext cx="575312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1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24</a:t>
            </a:r>
          </a:p>
        </p:txBody>
      </p:sp>
      <p:sp>
        <p:nvSpPr>
          <p:cNvPr id="443" name="Finding and Evidence Model"/>
          <p:cNvSpPr txBox="1"/>
          <p:nvPr/>
        </p:nvSpPr>
        <p:spPr>
          <a:xfrm>
            <a:off x="579119" y="666750"/>
            <a:ext cx="10195562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3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Finding and Evidence Model</a:t>
            </a:r>
          </a:p>
        </p:txBody>
      </p:sp>
      <p:sp>
        <p:nvSpPr>
          <p:cNvPr id="444" name="Rectangle"/>
          <p:cNvSpPr/>
          <p:nvPr/>
        </p:nvSpPr>
        <p:spPr>
          <a:xfrm>
            <a:off x="533400" y="1276350"/>
            <a:ext cx="1524000" cy="28575"/>
          </a:xfrm>
          <a:prstGeom prst="rect">
            <a:avLst/>
          </a:prstGeom>
          <a:solidFill>
            <a:srgbClr val="2563EB"/>
          </a:solidFill>
          <a:ln w="3175">
            <a:solidFill>
              <a:srgbClr val="2563E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45" name="• Findings standardize vulnerability class, endpoint and identity…"/>
          <p:cNvSpPr txBox="1"/>
          <p:nvPr/>
        </p:nvSpPr>
        <p:spPr>
          <a:xfrm>
            <a:off x="750569" y="1752600"/>
            <a:ext cx="5052062" cy="409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Findings standardize vulnerability class, endpoint and identity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Evidence stores expected and observed behavior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Reports include reproduction steps and appendix entries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cURL commands make findings repeatable</a:t>
            </a:r>
          </a:p>
        </p:txBody>
      </p:sp>
      <p:sp>
        <p:nvSpPr>
          <p:cNvPr id="446" name="Rectangle"/>
          <p:cNvSpPr/>
          <p:nvPr/>
        </p:nvSpPr>
        <p:spPr>
          <a:xfrm>
            <a:off x="6286500" y="1638300"/>
            <a:ext cx="4953000" cy="3714750"/>
          </a:xfrm>
          <a:prstGeom prst="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47" name="AuthZ Scanner technical presentation"/>
          <p:cNvSpPr txBox="1"/>
          <p:nvPr/>
        </p:nvSpPr>
        <p:spPr>
          <a:xfrm>
            <a:off x="579119" y="6438900"/>
            <a:ext cx="4290062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AuthZ Scanner technical presentation</a:t>
            </a:r>
          </a:p>
        </p:txBody>
      </p:sp>
      <p:pic>
        <p:nvPicPr>
          <p:cNvPr id="448" name="Screenshot 2026-09-10 at 10.11.36.png" descr="Screenshot 2026-09-10 at 10.11.36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971139" y="754458"/>
            <a:ext cx="6005180" cy="550148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25"/>
          <p:cNvSpPr txBox="1"/>
          <p:nvPr/>
        </p:nvSpPr>
        <p:spPr>
          <a:xfrm>
            <a:off x="579119" y="342900"/>
            <a:ext cx="575312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1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25</a:t>
            </a:r>
          </a:p>
        </p:txBody>
      </p:sp>
      <p:sp>
        <p:nvSpPr>
          <p:cNvPr id="453" name="Severity, Risk Score and Business Impact"/>
          <p:cNvSpPr txBox="1"/>
          <p:nvPr/>
        </p:nvSpPr>
        <p:spPr>
          <a:xfrm>
            <a:off x="579119" y="666750"/>
            <a:ext cx="10195562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3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Severity, Risk Score and Business Impact</a:t>
            </a:r>
          </a:p>
        </p:txBody>
      </p:sp>
      <p:sp>
        <p:nvSpPr>
          <p:cNvPr id="454" name="Rectangle"/>
          <p:cNvSpPr/>
          <p:nvPr/>
        </p:nvSpPr>
        <p:spPr>
          <a:xfrm>
            <a:off x="533400" y="1276350"/>
            <a:ext cx="1524000" cy="28575"/>
          </a:xfrm>
          <a:prstGeom prst="rect">
            <a:avLst/>
          </a:prstGeom>
          <a:solidFill>
            <a:srgbClr val="2563EB"/>
          </a:solidFill>
          <a:ln w="3175">
            <a:solidFill>
              <a:srgbClr val="2563E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55" name="• Severity labels: low, medium, high and critical…"/>
          <p:cNvSpPr txBox="1"/>
          <p:nvPr/>
        </p:nvSpPr>
        <p:spPr>
          <a:xfrm>
            <a:off x="750569" y="1752600"/>
            <a:ext cx="5052062" cy="409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Severity labels: low, medium, high and critical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Numeric risk score from 0 to 100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Config can override severity and score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Business impact explains why the issue matters</a:t>
            </a:r>
          </a:p>
        </p:txBody>
      </p:sp>
      <p:sp>
        <p:nvSpPr>
          <p:cNvPr id="456" name="Rectangle"/>
          <p:cNvSpPr/>
          <p:nvPr/>
        </p:nvSpPr>
        <p:spPr>
          <a:xfrm>
            <a:off x="6477000" y="1809750"/>
            <a:ext cx="4191000" cy="2857500"/>
          </a:xfrm>
          <a:prstGeom prst="rect">
            <a:avLst/>
          </a:prstGeom>
          <a:solidFill>
            <a:srgbClr val="FFFFFF"/>
          </a:solidFill>
          <a:ln w="11430">
            <a:solidFill>
              <a:srgbClr val="FCA5A5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57" name="Finding Card"/>
          <p:cNvSpPr txBox="1"/>
          <p:nvPr/>
        </p:nvSpPr>
        <p:spPr>
          <a:xfrm>
            <a:off x="6694169" y="1962150"/>
            <a:ext cx="375666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991B1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Finding Card</a:t>
            </a:r>
          </a:p>
        </p:txBody>
      </p:sp>
      <p:sp>
        <p:nvSpPr>
          <p:cNvPr id="458" name="Severity: CRITICAL…"/>
          <p:cNvSpPr txBox="1"/>
          <p:nvPr/>
        </p:nvSpPr>
        <p:spPr>
          <a:xfrm>
            <a:off x="6694169" y="2343150"/>
            <a:ext cx="3756662" cy="2209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15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Severity: CRITICAL</a:t>
            </a:r>
          </a:p>
          <a:p>
            <a:pPr>
              <a:defRPr sz="15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Risk Score: 95</a:t>
            </a:r>
          </a:p>
          <a:p>
            <a:pPr>
              <a:defRPr sz="15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Class: BOLA</a:t>
            </a:r>
          </a:p>
          <a:p>
            <a:pPr>
              <a:defRPr sz="15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Business Impact: cross-tenant invoice exposure</a:t>
            </a:r>
          </a:p>
          <a:p>
            <a:pPr>
              <a:defRPr sz="15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Evidence: request + response + cURL</a:t>
            </a:r>
          </a:p>
        </p:txBody>
      </p:sp>
      <p:sp>
        <p:nvSpPr>
          <p:cNvPr id="459" name="Rectangle"/>
          <p:cNvSpPr/>
          <p:nvPr/>
        </p:nvSpPr>
        <p:spPr>
          <a:xfrm>
            <a:off x="7239000" y="4953000"/>
            <a:ext cx="2857500" cy="361950"/>
          </a:xfrm>
          <a:prstGeom prst="rect">
            <a:avLst/>
          </a:prstGeom>
          <a:solidFill>
            <a:srgbClr val="FEF3C7"/>
          </a:solidFill>
          <a:ln w="3175">
            <a:solidFill>
              <a:srgbClr val="FEF3C7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60" name="technical proof + business meaning"/>
          <p:cNvSpPr txBox="1"/>
          <p:nvPr/>
        </p:nvSpPr>
        <p:spPr>
          <a:xfrm>
            <a:off x="7360919" y="5000625"/>
            <a:ext cx="2613662" cy="28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100">
                <a:solidFill>
                  <a:srgbClr val="92400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technical proof + business meaning</a:t>
            </a:r>
          </a:p>
        </p:txBody>
      </p:sp>
      <p:sp>
        <p:nvSpPr>
          <p:cNvPr id="461" name="AuthZ Scanner technical presentation"/>
          <p:cNvSpPr txBox="1"/>
          <p:nvPr/>
        </p:nvSpPr>
        <p:spPr>
          <a:xfrm>
            <a:off x="579119" y="6438900"/>
            <a:ext cx="4290062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AuthZ Scanner technical presentation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26"/>
          <p:cNvSpPr txBox="1"/>
          <p:nvPr/>
        </p:nvSpPr>
        <p:spPr>
          <a:xfrm>
            <a:off x="579119" y="342900"/>
            <a:ext cx="575312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1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26</a:t>
            </a:r>
          </a:p>
        </p:txBody>
      </p:sp>
      <p:sp>
        <p:nvSpPr>
          <p:cNvPr id="466" name="Reporting Layer"/>
          <p:cNvSpPr txBox="1"/>
          <p:nvPr/>
        </p:nvSpPr>
        <p:spPr>
          <a:xfrm>
            <a:off x="579119" y="666750"/>
            <a:ext cx="10195562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3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Reporting Layer</a:t>
            </a:r>
          </a:p>
        </p:txBody>
      </p:sp>
      <p:sp>
        <p:nvSpPr>
          <p:cNvPr id="467" name="Rectangle"/>
          <p:cNvSpPr/>
          <p:nvPr/>
        </p:nvSpPr>
        <p:spPr>
          <a:xfrm>
            <a:off x="533400" y="1276350"/>
            <a:ext cx="1524000" cy="28575"/>
          </a:xfrm>
          <a:prstGeom prst="rect">
            <a:avLst/>
          </a:prstGeom>
          <a:solidFill>
            <a:srgbClr val="2563EB"/>
          </a:solidFill>
          <a:ln w="3175">
            <a:solidFill>
              <a:srgbClr val="2563E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68" name="• JSON for automation…"/>
          <p:cNvSpPr txBox="1"/>
          <p:nvPr/>
        </p:nvSpPr>
        <p:spPr>
          <a:xfrm>
            <a:off x="750569" y="1752600"/>
            <a:ext cx="5052062" cy="409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JSON for automation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Markdown for technical documentation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HTML for readable review and demos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Reports include summary, evidence, cURL and appendix</a:t>
            </a:r>
          </a:p>
        </p:txBody>
      </p:sp>
      <p:sp>
        <p:nvSpPr>
          <p:cNvPr id="469" name="Rectangle"/>
          <p:cNvSpPr/>
          <p:nvPr/>
        </p:nvSpPr>
        <p:spPr>
          <a:xfrm>
            <a:off x="6191250" y="2190750"/>
            <a:ext cx="1381125" cy="1143000"/>
          </a:xfrm>
          <a:prstGeom prst="rect">
            <a:avLst/>
          </a:prstGeom>
          <a:solidFill>
            <a:srgbClr val="EEF6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70" name="JSON"/>
          <p:cNvSpPr txBox="1"/>
          <p:nvPr/>
        </p:nvSpPr>
        <p:spPr>
          <a:xfrm>
            <a:off x="6408419" y="2343150"/>
            <a:ext cx="946787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1E3A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JSON</a:t>
            </a:r>
          </a:p>
        </p:txBody>
      </p:sp>
      <p:sp>
        <p:nvSpPr>
          <p:cNvPr id="471" name="automation"/>
          <p:cNvSpPr txBox="1"/>
          <p:nvPr/>
        </p:nvSpPr>
        <p:spPr>
          <a:xfrm>
            <a:off x="6408419" y="2724150"/>
            <a:ext cx="946787" cy="495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2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automation</a:t>
            </a:r>
          </a:p>
        </p:txBody>
      </p:sp>
      <p:sp>
        <p:nvSpPr>
          <p:cNvPr id="472" name="Rectangle"/>
          <p:cNvSpPr/>
          <p:nvPr/>
        </p:nvSpPr>
        <p:spPr>
          <a:xfrm>
            <a:off x="7953375" y="2190750"/>
            <a:ext cx="1381125" cy="1143000"/>
          </a:xfrm>
          <a:prstGeom prst="rect">
            <a:avLst/>
          </a:prstGeom>
          <a:solidFill>
            <a:srgbClr val="EEF6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73" name="Markdown"/>
          <p:cNvSpPr txBox="1"/>
          <p:nvPr/>
        </p:nvSpPr>
        <p:spPr>
          <a:xfrm>
            <a:off x="8170544" y="2343150"/>
            <a:ext cx="946787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1E3A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Markdown</a:t>
            </a:r>
          </a:p>
        </p:txBody>
      </p:sp>
      <p:sp>
        <p:nvSpPr>
          <p:cNvPr id="474" name="write-up"/>
          <p:cNvSpPr txBox="1"/>
          <p:nvPr/>
        </p:nvSpPr>
        <p:spPr>
          <a:xfrm>
            <a:off x="8170544" y="2724150"/>
            <a:ext cx="946787" cy="495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5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write-up</a:t>
            </a:r>
          </a:p>
        </p:txBody>
      </p:sp>
      <p:sp>
        <p:nvSpPr>
          <p:cNvPr id="475" name="Rectangle"/>
          <p:cNvSpPr/>
          <p:nvPr/>
        </p:nvSpPr>
        <p:spPr>
          <a:xfrm>
            <a:off x="9715500" y="2190750"/>
            <a:ext cx="1381125" cy="1143000"/>
          </a:xfrm>
          <a:prstGeom prst="rect">
            <a:avLst/>
          </a:prstGeom>
          <a:solidFill>
            <a:srgbClr val="ECFDF5"/>
          </a:solidFill>
          <a:ln w="11430">
            <a:solidFill>
              <a:srgbClr val="86EFA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76" name="HTML"/>
          <p:cNvSpPr txBox="1"/>
          <p:nvPr/>
        </p:nvSpPr>
        <p:spPr>
          <a:xfrm>
            <a:off x="9932669" y="2343150"/>
            <a:ext cx="946787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16653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HTML</a:t>
            </a:r>
          </a:p>
        </p:txBody>
      </p:sp>
      <p:sp>
        <p:nvSpPr>
          <p:cNvPr id="477" name="demo review"/>
          <p:cNvSpPr txBox="1"/>
          <p:nvPr/>
        </p:nvSpPr>
        <p:spPr>
          <a:xfrm>
            <a:off x="9932669" y="2724150"/>
            <a:ext cx="946787" cy="495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2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demo review</a:t>
            </a:r>
          </a:p>
        </p:txBody>
      </p:sp>
      <p:sp>
        <p:nvSpPr>
          <p:cNvPr id="478" name="Rectangle"/>
          <p:cNvSpPr/>
          <p:nvPr/>
        </p:nvSpPr>
        <p:spPr>
          <a:xfrm>
            <a:off x="7239000" y="3905250"/>
            <a:ext cx="3048000" cy="381000"/>
          </a:xfrm>
          <a:prstGeom prst="rect">
            <a:avLst/>
          </a:prstGeom>
          <a:solidFill>
            <a:srgbClr val="EEF6FF"/>
          </a:solidFill>
          <a:ln w="3175">
            <a:solidFill>
              <a:srgbClr val="EEF6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79" name="summary + evidence + cURL + appendix"/>
          <p:cNvSpPr txBox="1"/>
          <p:nvPr/>
        </p:nvSpPr>
        <p:spPr>
          <a:xfrm>
            <a:off x="7360919" y="3952875"/>
            <a:ext cx="280416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000">
                <a:solidFill>
                  <a:srgbClr val="1E3A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summary + evidence + cURL + appendix</a:t>
            </a:r>
          </a:p>
        </p:txBody>
      </p:sp>
      <p:sp>
        <p:nvSpPr>
          <p:cNvPr id="480" name="AuthZ Scanner technical presentation"/>
          <p:cNvSpPr txBox="1"/>
          <p:nvPr/>
        </p:nvSpPr>
        <p:spPr>
          <a:xfrm>
            <a:off x="579119" y="6438900"/>
            <a:ext cx="4290062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AuthZ Scanner technical presentation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27"/>
          <p:cNvSpPr txBox="1"/>
          <p:nvPr/>
        </p:nvSpPr>
        <p:spPr>
          <a:xfrm>
            <a:off x="579119" y="342900"/>
            <a:ext cx="575312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1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27</a:t>
            </a:r>
          </a:p>
        </p:txBody>
      </p:sp>
      <p:sp>
        <p:nvSpPr>
          <p:cNvPr id="485" name="Safety Features"/>
          <p:cNvSpPr txBox="1"/>
          <p:nvPr/>
        </p:nvSpPr>
        <p:spPr>
          <a:xfrm>
            <a:off x="579119" y="666750"/>
            <a:ext cx="10195562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3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Safety Features</a:t>
            </a:r>
          </a:p>
        </p:txBody>
      </p:sp>
      <p:sp>
        <p:nvSpPr>
          <p:cNvPr id="486" name="Rectangle"/>
          <p:cNvSpPr/>
          <p:nvPr/>
        </p:nvSpPr>
        <p:spPr>
          <a:xfrm>
            <a:off x="533400" y="1276350"/>
            <a:ext cx="1524000" cy="28575"/>
          </a:xfrm>
          <a:prstGeom prst="rect">
            <a:avLst/>
          </a:prstGeom>
          <a:solidFill>
            <a:srgbClr val="2563EB"/>
          </a:solidFill>
          <a:ln w="3175">
            <a:solidFill>
              <a:srgbClr val="2563E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87" name="• Destructive test guard…"/>
          <p:cNvSpPr txBox="1"/>
          <p:nvPr/>
        </p:nvSpPr>
        <p:spPr>
          <a:xfrm>
            <a:off x="750569" y="1752600"/>
            <a:ext cx="5052062" cy="409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Destructive test guard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Explicit include-destructive flag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Reset recommendation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Config doctor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Sensitive data redaction</a:t>
            </a:r>
          </a:p>
        </p:txBody>
      </p:sp>
      <p:sp>
        <p:nvSpPr>
          <p:cNvPr id="488" name="Rectangle"/>
          <p:cNvSpPr/>
          <p:nvPr/>
        </p:nvSpPr>
        <p:spPr>
          <a:xfrm>
            <a:off x="6572250" y="1752600"/>
            <a:ext cx="4000500" cy="361950"/>
          </a:xfrm>
          <a:prstGeom prst="rect">
            <a:avLst/>
          </a:prstGeom>
          <a:solidFill>
            <a:srgbClr val="FEF3C7"/>
          </a:solidFill>
          <a:ln w="3175">
            <a:solidFill>
              <a:srgbClr val="FEF3C7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89" name="✓ Destructive guard"/>
          <p:cNvSpPr txBox="1"/>
          <p:nvPr/>
        </p:nvSpPr>
        <p:spPr>
          <a:xfrm>
            <a:off x="6694169" y="1800225"/>
            <a:ext cx="3756662" cy="28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200">
                <a:solidFill>
                  <a:srgbClr val="92400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✓ Destructive guard</a:t>
            </a:r>
          </a:p>
        </p:txBody>
      </p:sp>
      <p:sp>
        <p:nvSpPr>
          <p:cNvPr id="490" name="Rectangle"/>
          <p:cNvSpPr/>
          <p:nvPr/>
        </p:nvSpPr>
        <p:spPr>
          <a:xfrm>
            <a:off x="6572250" y="2305050"/>
            <a:ext cx="4000500" cy="361950"/>
          </a:xfrm>
          <a:prstGeom prst="rect">
            <a:avLst/>
          </a:prstGeom>
          <a:solidFill>
            <a:srgbClr val="ECFDF5"/>
          </a:solidFill>
          <a:ln w="3175">
            <a:solidFill>
              <a:srgbClr val="ECFDF5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91" name="✓ include-destructive flag"/>
          <p:cNvSpPr txBox="1"/>
          <p:nvPr/>
        </p:nvSpPr>
        <p:spPr>
          <a:xfrm>
            <a:off x="6694169" y="2352675"/>
            <a:ext cx="3756662" cy="28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200">
                <a:solidFill>
                  <a:srgbClr val="16653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✓ include-destructive flag</a:t>
            </a:r>
          </a:p>
        </p:txBody>
      </p:sp>
      <p:sp>
        <p:nvSpPr>
          <p:cNvPr id="492" name="Rectangle"/>
          <p:cNvSpPr/>
          <p:nvPr/>
        </p:nvSpPr>
        <p:spPr>
          <a:xfrm>
            <a:off x="6572250" y="2857500"/>
            <a:ext cx="4000500" cy="361950"/>
          </a:xfrm>
          <a:prstGeom prst="rect">
            <a:avLst/>
          </a:prstGeom>
          <a:solidFill>
            <a:srgbClr val="ECFDF5"/>
          </a:solidFill>
          <a:ln w="3175">
            <a:solidFill>
              <a:srgbClr val="ECFDF5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93" name="✓ reset recommendation"/>
          <p:cNvSpPr txBox="1"/>
          <p:nvPr/>
        </p:nvSpPr>
        <p:spPr>
          <a:xfrm>
            <a:off x="6694169" y="2905125"/>
            <a:ext cx="3756662" cy="28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200">
                <a:solidFill>
                  <a:srgbClr val="16653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✓ reset recommendation</a:t>
            </a:r>
          </a:p>
        </p:txBody>
      </p:sp>
      <p:sp>
        <p:nvSpPr>
          <p:cNvPr id="494" name="Rectangle"/>
          <p:cNvSpPr/>
          <p:nvPr/>
        </p:nvSpPr>
        <p:spPr>
          <a:xfrm>
            <a:off x="6572250" y="3409950"/>
            <a:ext cx="4000500" cy="361950"/>
          </a:xfrm>
          <a:prstGeom prst="rect">
            <a:avLst/>
          </a:prstGeom>
          <a:solidFill>
            <a:srgbClr val="ECFDF5"/>
          </a:solidFill>
          <a:ln w="3175">
            <a:solidFill>
              <a:srgbClr val="ECFDF5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95" name="✓ config doctor"/>
          <p:cNvSpPr txBox="1"/>
          <p:nvPr/>
        </p:nvSpPr>
        <p:spPr>
          <a:xfrm>
            <a:off x="6694169" y="3457575"/>
            <a:ext cx="3756662" cy="28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200">
                <a:solidFill>
                  <a:srgbClr val="16653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✓ config doctor</a:t>
            </a:r>
          </a:p>
        </p:txBody>
      </p:sp>
      <p:sp>
        <p:nvSpPr>
          <p:cNvPr id="496" name="Rectangle"/>
          <p:cNvSpPr/>
          <p:nvPr/>
        </p:nvSpPr>
        <p:spPr>
          <a:xfrm>
            <a:off x="6572250" y="3962400"/>
            <a:ext cx="4000500" cy="361950"/>
          </a:xfrm>
          <a:prstGeom prst="rect">
            <a:avLst/>
          </a:prstGeom>
          <a:solidFill>
            <a:srgbClr val="ECFDF5"/>
          </a:solidFill>
          <a:ln w="3175">
            <a:solidFill>
              <a:srgbClr val="ECFDF5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97" name="✓ sensitive data redaction"/>
          <p:cNvSpPr txBox="1"/>
          <p:nvPr/>
        </p:nvSpPr>
        <p:spPr>
          <a:xfrm>
            <a:off x="6694169" y="4010025"/>
            <a:ext cx="3756662" cy="28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200">
                <a:solidFill>
                  <a:srgbClr val="16653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✓ sensitive data redaction</a:t>
            </a:r>
          </a:p>
        </p:txBody>
      </p:sp>
      <p:sp>
        <p:nvSpPr>
          <p:cNvPr id="498" name="AuthZ Scanner technical presentation"/>
          <p:cNvSpPr txBox="1"/>
          <p:nvPr/>
        </p:nvSpPr>
        <p:spPr>
          <a:xfrm>
            <a:off x="579119" y="6438900"/>
            <a:ext cx="4290062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AuthZ Scanner technical presentation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28"/>
          <p:cNvSpPr txBox="1"/>
          <p:nvPr/>
        </p:nvSpPr>
        <p:spPr>
          <a:xfrm>
            <a:off x="579119" y="342900"/>
            <a:ext cx="575312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1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28</a:t>
            </a:r>
          </a:p>
        </p:txBody>
      </p:sp>
      <p:sp>
        <p:nvSpPr>
          <p:cNvPr id="503" name="OpenAPI Starter Config and Config Doctor"/>
          <p:cNvSpPr txBox="1"/>
          <p:nvPr/>
        </p:nvSpPr>
        <p:spPr>
          <a:xfrm>
            <a:off x="579119" y="666750"/>
            <a:ext cx="10195562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3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OpenAPI Starter Config and Config Doctor</a:t>
            </a:r>
          </a:p>
        </p:txBody>
      </p:sp>
      <p:sp>
        <p:nvSpPr>
          <p:cNvPr id="504" name="Rectangle"/>
          <p:cNvSpPr/>
          <p:nvPr/>
        </p:nvSpPr>
        <p:spPr>
          <a:xfrm>
            <a:off x="533400" y="1276350"/>
            <a:ext cx="1524000" cy="28575"/>
          </a:xfrm>
          <a:prstGeom prst="rect">
            <a:avLst/>
          </a:prstGeom>
          <a:solidFill>
            <a:srgbClr val="2563EB"/>
          </a:solidFill>
          <a:ln w="3175">
            <a:solidFill>
              <a:srgbClr val="2563E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05" name="• Manual YAML gives accuracy but costs time…"/>
          <p:cNvSpPr txBox="1"/>
          <p:nvPr/>
        </p:nvSpPr>
        <p:spPr>
          <a:xfrm>
            <a:off x="763269" y="1752600"/>
            <a:ext cx="5052062" cy="409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Manual YAML gives accuracy but costs time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OpenAPI starter config automates endpoint discovery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Human review keeps authorization decisions safe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Config doctor validates readiness before scanning</a:t>
            </a:r>
          </a:p>
        </p:txBody>
      </p:sp>
      <p:sp>
        <p:nvSpPr>
          <p:cNvPr id="506" name="Rectangle"/>
          <p:cNvSpPr/>
          <p:nvPr/>
        </p:nvSpPr>
        <p:spPr>
          <a:xfrm>
            <a:off x="5810250" y="2381250"/>
            <a:ext cx="1083945" cy="1000125"/>
          </a:xfrm>
          <a:prstGeom prst="rect">
            <a:avLst/>
          </a:prstGeom>
          <a:solidFill>
            <a:srgbClr val="EEF6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07" name="OpenAPI"/>
          <p:cNvSpPr txBox="1"/>
          <p:nvPr/>
        </p:nvSpPr>
        <p:spPr>
          <a:xfrm>
            <a:off x="5973445" y="2662722"/>
            <a:ext cx="703580" cy="403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795527">
              <a:defRPr b="1" sz="1131">
                <a:solidFill>
                  <a:srgbClr val="1E3A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OpenAPI</a:t>
            </a:r>
          </a:p>
        </p:txBody>
      </p:sp>
      <p:sp>
        <p:nvSpPr>
          <p:cNvPr id="508" name="→"/>
          <p:cNvSpPr txBox="1"/>
          <p:nvPr/>
        </p:nvSpPr>
        <p:spPr>
          <a:xfrm>
            <a:off x="6835139" y="2681288"/>
            <a:ext cx="25146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509" name="Rectangle"/>
          <p:cNvSpPr/>
          <p:nvPr/>
        </p:nvSpPr>
        <p:spPr>
          <a:xfrm>
            <a:off x="7027544" y="2381250"/>
            <a:ext cx="1083946" cy="1000125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10" name="Starter Config"/>
          <p:cNvSpPr txBox="1"/>
          <p:nvPr/>
        </p:nvSpPr>
        <p:spPr>
          <a:xfrm>
            <a:off x="7027227" y="2662722"/>
            <a:ext cx="1005207" cy="403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758951">
              <a:defRPr b="1" sz="1079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Starter Config</a:t>
            </a:r>
          </a:p>
        </p:txBody>
      </p:sp>
      <p:sp>
        <p:nvSpPr>
          <p:cNvPr id="511" name="→"/>
          <p:cNvSpPr txBox="1"/>
          <p:nvPr/>
        </p:nvSpPr>
        <p:spPr>
          <a:xfrm>
            <a:off x="8052435" y="2681288"/>
            <a:ext cx="25146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512" name="Rectangle"/>
          <p:cNvSpPr/>
          <p:nvPr/>
        </p:nvSpPr>
        <p:spPr>
          <a:xfrm>
            <a:off x="8244840" y="2381250"/>
            <a:ext cx="1083946" cy="1000125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13" name="TODO Review"/>
          <p:cNvSpPr txBox="1"/>
          <p:nvPr/>
        </p:nvSpPr>
        <p:spPr>
          <a:xfrm>
            <a:off x="8360093" y="2586890"/>
            <a:ext cx="906780" cy="5548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TODO Review</a:t>
            </a:r>
          </a:p>
        </p:txBody>
      </p:sp>
      <p:sp>
        <p:nvSpPr>
          <p:cNvPr id="514" name="→"/>
          <p:cNvSpPr txBox="1"/>
          <p:nvPr/>
        </p:nvSpPr>
        <p:spPr>
          <a:xfrm>
            <a:off x="9269729" y="2681288"/>
            <a:ext cx="25146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515" name="Rectangle"/>
          <p:cNvSpPr/>
          <p:nvPr/>
        </p:nvSpPr>
        <p:spPr>
          <a:xfrm>
            <a:off x="9462134" y="2381250"/>
            <a:ext cx="1083946" cy="1000125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16" name="Config Doctor"/>
          <p:cNvSpPr txBox="1"/>
          <p:nvPr/>
        </p:nvSpPr>
        <p:spPr>
          <a:xfrm>
            <a:off x="9594533" y="2533649"/>
            <a:ext cx="881380" cy="525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Config Doctor</a:t>
            </a:r>
          </a:p>
        </p:txBody>
      </p:sp>
      <p:sp>
        <p:nvSpPr>
          <p:cNvPr id="517" name="→"/>
          <p:cNvSpPr txBox="1"/>
          <p:nvPr/>
        </p:nvSpPr>
        <p:spPr>
          <a:xfrm>
            <a:off x="10487025" y="2681288"/>
            <a:ext cx="25146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518" name="Rectangle"/>
          <p:cNvSpPr/>
          <p:nvPr/>
        </p:nvSpPr>
        <p:spPr>
          <a:xfrm>
            <a:off x="10679430" y="2381250"/>
            <a:ext cx="1083946" cy="1000125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19" name="Scan Ready"/>
          <p:cNvSpPr txBox="1"/>
          <p:nvPr/>
        </p:nvSpPr>
        <p:spPr>
          <a:xfrm>
            <a:off x="10896601" y="2533650"/>
            <a:ext cx="819150" cy="525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Scan Ready</a:t>
            </a:r>
          </a:p>
        </p:txBody>
      </p:sp>
      <p:sp>
        <p:nvSpPr>
          <p:cNvPr id="520" name="Rectangle"/>
          <p:cNvSpPr/>
          <p:nvPr/>
        </p:nvSpPr>
        <p:spPr>
          <a:xfrm>
            <a:off x="6667500" y="3905250"/>
            <a:ext cx="4000500" cy="400050"/>
          </a:xfrm>
          <a:prstGeom prst="rect">
            <a:avLst/>
          </a:prstGeom>
          <a:solidFill>
            <a:srgbClr val="FEF3C7"/>
          </a:solidFill>
          <a:ln w="3175">
            <a:solidFill>
              <a:srgbClr val="FEF3C7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21" name="automation reduces setup; human review keeps rules correct"/>
          <p:cNvSpPr txBox="1"/>
          <p:nvPr/>
        </p:nvSpPr>
        <p:spPr>
          <a:xfrm>
            <a:off x="6665912" y="3952875"/>
            <a:ext cx="4003676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795527">
              <a:defRPr b="1" sz="1044">
                <a:solidFill>
                  <a:srgbClr val="92400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automation reduces setup; human review keeps rules correct</a:t>
            </a:r>
          </a:p>
        </p:txBody>
      </p:sp>
      <p:sp>
        <p:nvSpPr>
          <p:cNvPr id="522" name="AuthZ Scanner technical presentation"/>
          <p:cNvSpPr txBox="1"/>
          <p:nvPr/>
        </p:nvSpPr>
        <p:spPr>
          <a:xfrm>
            <a:off x="579119" y="6438900"/>
            <a:ext cx="4290062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AuthZ Scanner technical presentation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29"/>
          <p:cNvSpPr txBox="1"/>
          <p:nvPr/>
        </p:nvSpPr>
        <p:spPr>
          <a:xfrm>
            <a:off x="579119" y="342900"/>
            <a:ext cx="575312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1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29</a:t>
            </a:r>
          </a:p>
        </p:txBody>
      </p:sp>
      <p:sp>
        <p:nvSpPr>
          <p:cNvPr id="527" name="Demo Results"/>
          <p:cNvSpPr txBox="1"/>
          <p:nvPr/>
        </p:nvSpPr>
        <p:spPr>
          <a:xfrm>
            <a:off x="579119" y="666750"/>
            <a:ext cx="10195562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3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Demo Results</a:t>
            </a:r>
          </a:p>
        </p:txBody>
      </p:sp>
      <p:sp>
        <p:nvSpPr>
          <p:cNvPr id="528" name="Rectangle"/>
          <p:cNvSpPr/>
          <p:nvPr/>
        </p:nvSpPr>
        <p:spPr>
          <a:xfrm>
            <a:off x="533400" y="1276350"/>
            <a:ext cx="1524000" cy="28575"/>
          </a:xfrm>
          <a:prstGeom prst="rect">
            <a:avLst/>
          </a:prstGeom>
          <a:solidFill>
            <a:srgbClr val="2563EB"/>
          </a:solidFill>
          <a:ln w="3175">
            <a:solidFill>
              <a:srgbClr val="2563E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29" name="• Vulnerable API: 10 findings in the default scan…"/>
          <p:cNvSpPr txBox="1"/>
          <p:nvPr/>
        </p:nvSpPr>
        <p:spPr>
          <a:xfrm>
            <a:off x="750569" y="1752600"/>
            <a:ext cx="5052062" cy="409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Vulnerable API: 10 findings in the default scan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Hardened API: 0 findings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Destructive tests are skipped by default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19 became 10 after destructive checks moved behind an explicit flag</a:t>
            </a:r>
          </a:p>
        </p:txBody>
      </p:sp>
      <p:sp>
        <p:nvSpPr>
          <p:cNvPr id="530" name="Rectangle"/>
          <p:cNvSpPr/>
          <p:nvPr/>
        </p:nvSpPr>
        <p:spPr>
          <a:xfrm>
            <a:off x="6286500" y="1638300"/>
            <a:ext cx="4953000" cy="3714750"/>
          </a:xfrm>
          <a:prstGeom prst="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31" name="AuthZ Scanner technical presentation"/>
          <p:cNvSpPr txBox="1"/>
          <p:nvPr/>
        </p:nvSpPr>
        <p:spPr>
          <a:xfrm>
            <a:off x="579119" y="6438900"/>
            <a:ext cx="4290062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AuthZ Scanner technical presentation</a:t>
            </a:r>
          </a:p>
        </p:txBody>
      </p:sp>
      <p:pic>
        <p:nvPicPr>
          <p:cNvPr id="532" name="Screenshot 2026-09-10 at 10.03.34.png" descr="Screenshot 2026-09-10 at 10.03.34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552108" y="443917"/>
            <a:ext cx="6421784" cy="574858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30"/>
          <p:cNvSpPr txBox="1"/>
          <p:nvPr/>
        </p:nvSpPr>
        <p:spPr>
          <a:xfrm>
            <a:off x="579119" y="342900"/>
            <a:ext cx="575312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1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30</a:t>
            </a:r>
          </a:p>
        </p:txBody>
      </p:sp>
      <p:sp>
        <p:nvSpPr>
          <p:cNvPr id="537" name="Vulnerable vs Hardened Comparison"/>
          <p:cNvSpPr txBox="1"/>
          <p:nvPr/>
        </p:nvSpPr>
        <p:spPr>
          <a:xfrm>
            <a:off x="579119" y="666750"/>
            <a:ext cx="10195562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3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Vulnerable vs Hardened Comparison</a:t>
            </a:r>
          </a:p>
        </p:txBody>
      </p:sp>
      <p:sp>
        <p:nvSpPr>
          <p:cNvPr id="538" name="Rectangle"/>
          <p:cNvSpPr/>
          <p:nvPr/>
        </p:nvSpPr>
        <p:spPr>
          <a:xfrm>
            <a:off x="533400" y="1276350"/>
            <a:ext cx="1524000" cy="28575"/>
          </a:xfrm>
          <a:prstGeom prst="rect">
            <a:avLst/>
          </a:prstGeom>
          <a:solidFill>
            <a:srgbClr val="2563EB"/>
          </a:solidFill>
          <a:ln w="3175">
            <a:solidFill>
              <a:srgbClr val="2563E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39" name="Rectangle"/>
          <p:cNvSpPr/>
          <p:nvPr/>
        </p:nvSpPr>
        <p:spPr>
          <a:xfrm>
            <a:off x="1104900" y="1905000"/>
            <a:ext cx="4286250" cy="2476500"/>
          </a:xfrm>
          <a:prstGeom prst="rect">
            <a:avLst/>
          </a:prstGeom>
          <a:solidFill>
            <a:srgbClr val="FEF2F2"/>
          </a:solidFill>
          <a:ln w="11430">
            <a:solidFill>
              <a:srgbClr val="FCA5A5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40" name="Vulnerable API"/>
          <p:cNvSpPr txBox="1"/>
          <p:nvPr/>
        </p:nvSpPr>
        <p:spPr>
          <a:xfrm>
            <a:off x="1322069" y="2057400"/>
            <a:ext cx="385191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991B1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Vulnerable API</a:t>
            </a:r>
          </a:p>
        </p:txBody>
      </p:sp>
      <p:sp>
        <p:nvSpPr>
          <p:cNvPr id="541" name="10 findings…"/>
          <p:cNvSpPr txBox="1"/>
          <p:nvPr/>
        </p:nvSpPr>
        <p:spPr>
          <a:xfrm>
            <a:off x="1322069" y="2438400"/>
            <a:ext cx="3851912" cy="1828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10 findings</a:t>
            </a:r>
          </a:p>
          <a:p>
            <a:pPr>
              <a:defRPr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BOLA, BFLA, Data Exposure,</a:t>
            </a:r>
          </a:p>
          <a:p>
            <a:pPr>
              <a:defRPr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Response Body Mismatch</a:t>
            </a:r>
          </a:p>
        </p:txBody>
      </p:sp>
      <p:sp>
        <p:nvSpPr>
          <p:cNvPr id="542" name="Rectangle"/>
          <p:cNvSpPr/>
          <p:nvPr/>
        </p:nvSpPr>
        <p:spPr>
          <a:xfrm>
            <a:off x="6800850" y="1905000"/>
            <a:ext cx="4286250" cy="2476500"/>
          </a:xfrm>
          <a:prstGeom prst="rect">
            <a:avLst/>
          </a:prstGeom>
          <a:solidFill>
            <a:srgbClr val="ECFDF5"/>
          </a:solidFill>
          <a:ln w="11430">
            <a:solidFill>
              <a:srgbClr val="86EFA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43" name="Hardened API"/>
          <p:cNvSpPr txBox="1"/>
          <p:nvPr/>
        </p:nvSpPr>
        <p:spPr>
          <a:xfrm>
            <a:off x="7018019" y="2057400"/>
            <a:ext cx="385191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16653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Hardened API</a:t>
            </a:r>
          </a:p>
        </p:txBody>
      </p:sp>
      <p:sp>
        <p:nvSpPr>
          <p:cNvPr id="544" name="0 findings…"/>
          <p:cNvSpPr txBox="1"/>
          <p:nvPr/>
        </p:nvSpPr>
        <p:spPr>
          <a:xfrm>
            <a:off x="7018019" y="2438400"/>
            <a:ext cx="3851912" cy="1828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0 findings</a:t>
            </a:r>
          </a:p>
          <a:p>
            <a:pPr>
              <a:defRPr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Same scanner, same rules,</a:t>
            </a:r>
          </a:p>
          <a:p>
            <a:pPr>
              <a:defRPr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secure behavior</a:t>
            </a:r>
          </a:p>
        </p:txBody>
      </p:sp>
      <p:sp>
        <p:nvSpPr>
          <p:cNvPr id="545" name="• Same test engine…"/>
          <p:cNvSpPr txBox="1"/>
          <p:nvPr/>
        </p:nvSpPr>
        <p:spPr>
          <a:xfrm>
            <a:off x="1569719" y="4762500"/>
            <a:ext cx="9052562" cy="1238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Same test engine</a:t>
            </a:r>
          </a:p>
          <a:p>
            <a:pPr>
              <a:defRPr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Same scanner modules</a:t>
            </a:r>
          </a:p>
          <a:p>
            <a:pPr>
              <a:defRPr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Same security expectations</a:t>
            </a:r>
          </a:p>
          <a:p>
            <a:pPr>
              <a:defRPr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Different target behavior produces different results</a:t>
            </a:r>
          </a:p>
        </p:txBody>
      </p:sp>
      <p:sp>
        <p:nvSpPr>
          <p:cNvPr id="546" name="AuthZ Scanner technical presentation"/>
          <p:cNvSpPr txBox="1"/>
          <p:nvPr/>
        </p:nvSpPr>
        <p:spPr>
          <a:xfrm>
            <a:off x="579119" y="6438900"/>
            <a:ext cx="4290062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AuthZ Scanner technical presentation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31"/>
          <p:cNvSpPr txBox="1"/>
          <p:nvPr/>
        </p:nvSpPr>
        <p:spPr>
          <a:xfrm>
            <a:off x="579119" y="342900"/>
            <a:ext cx="575312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1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31</a:t>
            </a:r>
          </a:p>
        </p:txBody>
      </p:sp>
      <p:sp>
        <p:nvSpPr>
          <p:cNvPr id="551" name="Test Coverage"/>
          <p:cNvSpPr txBox="1"/>
          <p:nvPr/>
        </p:nvSpPr>
        <p:spPr>
          <a:xfrm>
            <a:off x="579119" y="666750"/>
            <a:ext cx="10195562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3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Test Coverage</a:t>
            </a:r>
          </a:p>
        </p:txBody>
      </p:sp>
      <p:sp>
        <p:nvSpPr>
          <p:cNvPr id="552" name="Rectangle"/>
          <p:cNvSpPr/>
          <p:nvPr/>
        </p:nvSpPr>
        <p:spPr>
          <a:xfrm>
            <a:off x="533400" y="1276350"/>
            <a:ext cx="1524000" cy="28575"/>
          </a:xfrm>
          <a:prstGeom prst="rect">
            <a:avLst/>
          </a:prstGeom>
          <a:solidFill>
            <a:srgbClr val="2563EB"/>
          </a:solidFill>
          <a:ln w="3175">
            <a:solidFill>
              <a:srgbClr val="2563E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53" name="• API behavior tests…"/>
          <p:cNvSpPr txBox="1"/>
          <p:nvPr/>
        </p:nvSpPr>
        <p:spPr>
          <a:xfrm>
            <a:off x="750569" y="1752600"/>
            <a:ext cx="5052062" cy="409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API behavior tests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Authentication flow tests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Scanner module tests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Reporting and config doctor tests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Current suite: 152 passed, 2 warnings</a:t>
            </a:r>
          </a:p>
        </p:txBody>
      </p:sp>
      <p:sp>
        <p:nvSpPr>
          <p:cNvPr id="554" name="Rectangle"/>
          <p:cNvSpPr/>
          <p:nvPr/>
        </p:nvSpPr>
        <p:spPr>
          <a:xfrm>
            <a:off x="6286500" y="1638300"/>
            <a:ext cx="4953000" cy="3714750"/>
          </a:xfrm>
          <a:prstGeom prst="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55" name="AuthZ Scanner technical presentation"/>
          <p:cNvSpPr txBox="1"/>
          <p:nvPr/>
        </p:nvSpPr>
        <p:spPr>
          <a:xfrm>
            <a:off x="579119" y="6438900"/>
            <a:ext cx="4290062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AuthZ Scanner technical presentation</a:t>
            </a:r>
          </a:p>
        </p:txBody>
      </p:sp>
      <p:pic>
        <p:nvPicPr>
          <p:cNvPr id="556" name="Screenshot 2026-09-10 at 10.21.25.png" descr="Screenshot 2026-09-10 at 10.21.2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938811" y="0"/>
            <a:ext cx="6239566" cy="6858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32"/>
          <p:cNvSpPr txBox="1"/>
          <p:nvPr/>
        </p:nvSpPr>
        <p:spPr>
          <a:xfrm>
            <a:off x="579119" y="342900"/>
            <a:ext cx="575312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1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32</a:t>
            </a:r>
          </a:p>
        </p:txBody>
      </p:sp>
      <p:sp>
        <p:nvSpPr>
          <p:cNvPr id="561" name="Limitations"/>
          <p:cNvSpPr txBox="1"/>
          <p:nvPr/>
        </p:nvSpPr>
        <p:spPr>
          <a:xfrm>
            <a:off x="579119" y="666750"/>
            <a:ext cx="10195562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3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Limitations</a:t>
            </a:r>
          </a:p>
        </p:txBody>
      </p:sp>
      <p:sp>
        <p:nvSpPr>
          <p:cNvPr id="562" name="Rectangle"/>
          <p:cNvSpPr/>
          <p:nvPr/>
        </p:nvSpPr>
        <p:spPr>
          <a:xfrm>
            <a:off x="533400" y="1276350"/>
            <a:ext cx="1524000" cy="28575"/>
          </a:xfrm>
          <a:prstGeom prst="rect">
            <a:avLst/>
          </a:prstGeom>
          <a:solidFill>
            <a:srgbClr val="2563EB"/>
          </a:solidFill>
          <a:ln w="3175">
            <a:solidFill>
              <a:srgbClr val="2563E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63" name="• Final authorization rules still require human review…"/>
          <p:cNvSpPr txBox="1"/>
          <p:nvPr/>
        </p:nvSpPr>
        <p:spPr>
          <a:xfrm>
            <a:off x="750569" y="1752600"/>
            <a:ext cx="5052062" cy="409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Final authorization rules still require human review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OpenAPI cannot infer business logic completely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Workflow and state-transition testing is limited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ID discovery strategies are still basic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Enterprise OAuth2 flows remain future work</a:t>
            </a:r>
          </a:p>
        </p:txBody>
      </p:sp>
      <p:sp>
        <p:nvSpPr>
          <p:cNvPr id="564" name="Rectangle"/>
          <p:cNvSpPr/>
          <p:nvPr/>
        </p:nvSpPr>
        <p:spPr>
          <a:xfrm>
            <a:off x="6191250" y="1952625"/>
            <a:ext cx="2238375" cy="2190750"/>
          </a:xfrm>
          <a:prstGeom prst="rect">
            <a:avLst/>
          </a:prstGeom>
          <a:solidFill>
            <a:srgbClr val="F8FAFC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65" name="Current Limits"/>
          <p:cNvSpPr txBox="1"/>
          <p:nvPr/>
        </p:nvSpPr>
        <p:spPr>
          <a:xfrm>
            <a:off x="6408419" y="2105025"/>
            <a:ext cx="1804037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Current Limits</a:t>
            </a:r>
          </a:p>
        </p:txBody>
      </p:sp>
      <p:sp>
        <p:nvSpPr>
          <p:cNvPr id="566" name="Human rule review…"/>
          <p:cNvSpPr txBox="1"/>
          <p:nvPr/>
        </p:nvSpPr>
        <p:spPr>
          <a:xfrm>
            <a:off x="6408419" y="2486025"/>
            <a:ext cx="1804037" cy="1543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15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Human rule review</a:t>
            </a:r>
          </a:p>
          <a:p>
            <a:pPr>
              <a:defRPr sz="15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Basic ID discovery</a:t>
            </a:r>
          </a:p>
          <a:p>
            <a:pPr>
              <a:defRPr sz="15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Limited workflow/state testing</a:t>
            </a:r>
          </a:p>
        </p:txBody>
      </p:sp>
      <p:sp>
        <p:nvSpPr>
          <p:cNvPr id="567" name="→"/>
          <p:cNvSpPr txBox="1"/>
          <p:nvPr/>
        </p:nvSpPr>
        <p:spPr>
          <a:xfrm>
            <a:off x="8618219" y="2762250"/>
            <a:ext cx="461012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21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568" name="Rectangle"/>
          <p:cNvSpPr/>
          <p:nvPr/>
        </p:nvSpPr>
        <p:spPr>
          <a:xfrm>
            <a:off x="9239250" y="2286000"/>
            <a:ext cx="2190750" cy="1524000"/>
          </a:xfrm>
          <a:prstGeom prst="rect">
            <a:avLst/>
          </a:prstGeom>
          <a:solidFill>
            <a:srgbClr val="EEF6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69" name="Next Direction"/>
          <p:cNvSpPr txBox="1"/>
          <p:nvPr/>
        </p:nvSpPr>
        <p:spPr>
          <a:xfrm>
            <a:off x="9456419" y="2438400"/>
            <a:ext cx="1756412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1E3A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Next Direction</a:t>
            </a:r>
          </a:p>
        </p:txBody>
      </p:sp>
      <p:sp>
        <p:nvSpPr>
          <p:cNvPr id="570" name="Roadmap items turn the MVP into a stronger pentest tool"/>
          <p:cNvSpPr txBox="1"/>
          <p:nvPr/>
        </p:nvSpPr>
        <p:spPr>
          <a:xfrm>
            <a:off x="9456419" y="2819400"/>
            <a:ext cx="1756412" cy="876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Roadmap items turn the MVP into a stronger pentest tool</a:t>
            </a:r>
          </a:p>
        </p:txBody>
      </p:sp>
      <p:sp>
        <p:nvSpPr>
          <p:cNvPr id="571" name="AuthZ Scanner technical presentation"/>
          <p:cNvSpPr txBox="1"/>
          <p:nvPr/>
        </p:nvSpPr>
        <p:spPr>
          <a:xfrm>
            <a:off x="579119" y="6438900"/>
            <a:ext cx="4290062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AuthZ Scanner technical presentation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33"/>
          <p:cNvSpPr txBox="1"/>
          <p:nvPr/>
        </p:nvSpPr>
        <p:spPr>
          <a:xfrm>
            <a:off x="579119" y="342900"/>
            <a:ext cx="575312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1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33</a:t>
            </a:r>
          </a:p>
        </p:txBody>
      </p:sp>
      <p:sp>
        <p:nvSpPr>
          <p:cNvPr id="576" name="Future Work"/>
          <p:cNvSpPr txBox="1"/>
          <p:nvPr/>
        </p:nvSpPr>
        <p:spPr>
          <a:xfrm>
            <a:off x="579119" y="666750"/>
            <a:ext cx="10195562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3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Future Work</a:t>
            </a:r>
          </a:p>
        </p:txBody>
      </p:sp>
      <p:sp>
        <p:nvSpPr>
          <p:cNvPr id="577" name="Rectangle"/>
          <p:cNvSpPr/>
          <p:nvPr/>
        </p:nvSpPr>
        <p:spPr>
          <a:xfrm>
            <a:off x="533400" y="1276350"/>
            <a:ext cx="1524000" cy="28575"/>
          </a:xfrm>
          <a:prstGeom prst="rect">
            <a:avLst/>
          </a:prstGeom>
          <a:solidFill>
            <a:srgbClr val="2563EB"/>
          </a:solidFill>
          <a:ln w="3175">
            <a:solidFill>
              <a:srgbClr val="2563E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78" name="• Scan profiles for quick, full and non-destructive scans…"/>
          <p:cNvSpPr txBox="1"/>
          <p:nvPr/>
        </p:nvSpPr>
        <p:spPr>
          <a:xfrm>
            <a:off x="750569" y="1752600"/>
            <a:ext cx="5052062" cy="409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Scan profiles for quick, full and non-destructive scans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Advanced response diffing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Workflow and state-transition tests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IDOR enumeration strategies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OAuth2 client credentials and richer OpenAPI analysis</a:t>
            </a:r>
          </a:p>
        </p:txBody>
      </p:sp>
      <p:sp>
        <p:nvSpPr>
          <p:cNvPr id="579" name="Rectangle"/>
          <p:cNvSpPr/>
          <p:nvPr/>
        </p:nvSpPr>
        <p:spPr>
          <a:xfrm>
            <a:off x="5810250" y="2381250"/>
            <a:ext cx="1083945" cy="1000125"/>
          </a:xfrm>
          <a:prstGeom prst="rect">
            <a:avLst/>
          </a:prstGeom>
          <a:solidFill>
            <a:srgbClr val="EEF6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80" name="Scan Profiles"/>
          <p:cNvSpPr txBox="1"/>
          <p:nvPr/>
        </p:nvSpPr>
        <p:spPr>
          <a:xfrm>
            <a:off x="5975984" y="2533649"/>
            <a:ext cx="1095376" cy="695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1E3A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Scan Profiles</a:t>
            </a:r>
          </a:p>
        </p:txBody>
      </p:sp>
      <p:sp>
        <p:nvSpPr>
          <p:cNvPr id="581" name="→"/>
          <p:cNvSpPr txBox="1"/>
          <p:nvPr/>
        </p:nvSpPr>
        <p:spPr>
          <a:xfrm>
            <a:off x="6835139" y="2681288"/>
            <a:ext cx="25146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582" name="Rectangle"/>
          <p:cNvSpPr/>
          <p:nvPr/>
        </p:nvSpPr>
        <p:spPr>
          <a:xfrm>
            <a:off x="7027544" y="2381250"/>
            <a:ext cx="1083946" cy="1000125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83" name="Response Diffing"/>
          <p:cNvSpPr txBox="1"/>
          <p:nvPr/>
        </p:nvSpPr>
        <p:spPr>
          <a:xfrm>
            <a:off x="7072394" y="2566987"/>
            <a:ext cx="994246" cy="628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Response Diffing</a:t>
            </a:r>
          </a:p>
        </p:txBody>
      </p:sp>
      <p:sp>
        <p:nvSpPr>
          <p:cNvPr id="584" name="→"/>
          <p:cNvSpPr txBox="1"/>
          <p:nvPr/>
        </p:nvSpPr>
        <p:spPr>
          <a:xfrm>
            <a:off x="8052435" y="2681288"/>
            <a:ext cx="25146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585" name="Rectangle"/>
          <p:cNvSpPr/>
          <p:nvPr/>
        </p:nvSpPr>
        <p:spPr>
          <a:xfrm>
            <a:off x="8244840" y="2381250"/>
            <a:ext cx="1083946" cy="1000125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86" name="Workflow Tests"/>
          <p:cNvSpPr txBox="1"/>
          <p:nvPr/>
        </p:nvSpPr>
        <p:spPr>
          <a:xfrm>
            <a:off x="8289607" y="2566987"/>
            <a:ext cx="994411" cy="628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Workflow Tests</a:t>
            </a:r>
          </a:p>
        </p:txBody>
      </p:sp>
      <p:sp>
        <p:nvSpPr>
          <p:cNvPr id="587" name="→"/>
          <p:cNvSpPr txBox="1"/>
          <p:nvPr/>
        </p:nvSpPr>
        <p:spPr>
          <a:xfrm>
            <a:off x="9269729" y="2681288"/>
            <a:ext cx="25146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588" name="Rectangle"/>
          <p:cNvSpPr/>
          <p:nvPr/>
        </p:nvSpPr>
        <p:spPr>
          <a:xfrm>
            <a:off x="9462134" y="2381250"/>
            <a:ext cx="1083946" cy="1000125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89" name="IDOR Enumeration"/>
          <p:cNvSpPr txBox="1"/>
          <p:nvPr/>
        </p:nvSpPr>
        <p:spPr>
          <a:xfrm>
            <a:off x="9442133" y="2566987"/>
            <a:ext cx="1073467" cy="628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86968">
              <a:defRPr b="1" sz="1261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IDOR Enumeration</a:t>
            </a:r>
          </a:p>
        </p:txBody>
      </p:sp>
      <p:sp>
        <p:nvSpPr>
          <p:cNvPr id="590" name="→"/>
          <p:cNvSpPr txBox="1"/>
          <p:nvPr/>
        </p:nvSpPr>
        <p:spPr>
          <a:xfrm>
            <a:off x="10487025" y="2681288"/>
            <a:ext cx="25146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591" name="Rectangle"/>
          <p:cNvSpPr/>
          <p:nvPr/>
        </p:nvSpPr>
        <p:spPr>
          <a:xfrm>
            <a:off x="10679430" y="2381250"/>
            <a:ext cx="1083946" cy="1000125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92" name="OAuth2"/>
          <p:cNvSpPr txBox="1"/>
          <p:nvPr/>
        </p:nvSpPr>
        <p:spPr>
          <a:xfrm>
            <a:off x="10813013" y="2649003"/>
            <a:ext cx="1059099" cy="7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OAuth2</a:t>
            </a:r>
          </a:p>
        </p:txBody>
      </p:sp>
      <p:sp>
        <p:nvSpPr>
          <p:cNvPr id="593" name="AuthZ Scanner technical presentation"/>
          <p:cNvSpPr txBox="1"/>
          <p:nvPr/>
        </p:nvSpPr>
        <p:spPr>
          <a:xfrm>
            <a:off x="579119" y="6438900"/>
            <a:ext cx="4290062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AuthZ Scanner technical presentation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34"/>
          <p:cNvSpPr txBox="1"/>
          <p:nvPr/>
        </p:nvSpPr>
        <p:spPr>
          <a:xfrm>
            <a:off x="579119" y="342900"/>
            <a:ext cx="575312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1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34</a:t>
            </a:r>
          </a:p>
        </p:txBody>
      </p:sp>
      <p:sp>
        <p:nvSpPr>
          <p:cNvPr id="598" name="Conclusion"/>
          <p:cNvSpPr txBox="1"/>
          <p:nvPr/>
        </p:nvSpPr>
        <p:spPr>
          <a:xfrm>
            <a:off x="579119" y="666750"/>
            <a:ext cx="10195562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3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599" name="Rectangle"/>
          <p:cNvSpPr/>
          <p:nvPr/>
        </p:nvSpPr>
        <p:spPr>
          <a:xfrm>
            <a:off x="533400" y="1276350"/>
            <a:ext cx="1524000" cy="28575"/>
          </a:xfrm>
          <a:prstGeom prst="rect">
            <a:avLst/>
          </a:prstGeom>
          <a:solidFill>
            <a:srgbClr val="2563EB"/>
          </a:solidFill>
          <a:ln w="3175">
            <a:solidFill>
              <a:srgbClr val="2563E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00" name="• Manual authorization checks became repeatable tests…"/>
          <p:cNvSpPr txBox="1"/>
          <p:nvPr/>
        </p:nvSpPr>
        <p:spPr>
          <a:xfrm>
            <a:off x="750569" y="1752600"/>
            <a:ext cx="5052062" cy="409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Manual authorization checks became repeatable tests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Scanner logic became configurable through YAML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Findings include evidence, risk and business impact</a:t>
            </a:r>
          </a:p>
          <a:p>
            <a:pPr>
              <a:defRPr sz="20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The lab validates both vulnerable and hardened behavior</a:t>
            </a:r>
          </a:p>
        </p:txBody>
      </p:sp>
      <p:sp>
        <p:nvSpPr>
          <p:cNvPr id="601" name="Rectangle"/>
          <p:cNvSpPr/>
          <p:nvPr/>
        </p:nvSpPr>
        <p:spPr>
          <a:xfrm>
            <a:off x="5810250" y="2381250"/>
            <a:ext cx="1083945" cy="1000125"/>
          </a:xfrm>
          <a:prstGeom prst="rect">
            <a:avLst/>
          </a:prstGeom>
          <a:solidFill>
            <a:srgbClr val="EEF6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02" name="Config"/>
          <p:cNvSpPr txBox="1"/>
          <p:nvPr/>
        </p:nvSpPr>
        <p:spPr>
          <a:xfrm>
            <a:off x="5975984" y="2609999"/>
            <a:ext cx="1095376" cy="5616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1E3A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Config</a:t>
            </a:r>
          </a:p>
        </p:txBody>
      </p:sp>
      <p:sp>
        <p:nvSpPr>
          <p:cNvPr id="603" name="→"/>
          <p:cNvSpPr txBox="1"/>
          <p:nvPr/>
        </p:nvSpPr>
        <p:spPr>
          <a:xfrm>
            <a:off x="6835139" y="2681288"/>
            <a:ext cx="25146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604" name="Rectangle"/>
          <p:cNvSpPr/>
          <p:nvPr/>
        </p:nvSpPr>
        <p:spPr>
          <a:xfrm>
            <a:off x="7027544" y="2381250"/>
            <a:ext cx="1083946" cy="1000125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05" name="HTTP Tests"/>
          <p:cNvSpPr txBox="1"/>
          <p:nvPr/>
        </p:nvSpPr>
        <p:spPr>
          <a:xfrm>
            <a:off x="7081837" y="2613510"/>
            <a:ext cx="1095376" cy="7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HTTP Tests</a:t>
            </a:r>
          </a:p>
        </p:txBody>
      </p:sp>
      <p:sp>
        <p:nvSpPr>
          <p:cNvPr id="606" name="→"/>
          <p:cNvSpPr txBox="1"/>
          <p:nvPr/>
        </p:nvSpPr>
        <p:spPr>
          <a:xfrm>
            <a:off x="8052435" y="2681288"/>
            <a:ext cx="25146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607" name="Rectangle"/>
          <p:cNvSpPr/>
          <p:nvPr/>
        </p:nvSpPr>
        <p:spPr>
          <a:xfrm>
            <a:off x="8244840" y="2381250"/>
            <a:ext cx="1083946" cy="1000125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08" name="Findings"/>
          <p:cNvSpPr txBox="1"/>
          <p:nvPr/>
        </p:nvSpPr>
        <p:spPr>
          <a:xfrm>
            <a:off x="8324850" y="2623035"/>
            <a:ext cx="1095376" cy="695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Findings</a:t>
            </a:r>
          </a:p>
        </p:txBody>
      </p:sp>
      <p:sp>
        <p:nvSpPr>
          <p:cNvPr id="609" name="→"/>
          <p:cNvSpPr txBox="1"/>
          <p:nvPr/>
        </p:nvSpPr>
        <p:spPr>
          <a:xfrm>
            <a:off x="9269729" y="2681288"/>
            <a:ext cx="25146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610" name="Rectangle"/>
          <p:cNvSpPr/>
          <p:nvPr/>
        </p:nvSpPr>
        <p:spPr>
          <a:xfrm>
            <a:off x="9462134" y="2381250"/>
            <a:ext cx="1083946" cy="1000125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11" name="Reports"/>
          <p:cNvSpPr txBox="1"/>
          <p:nvPr/>
        </p:nvSpPr>
        <p:spPr>
          <a:xfrm>
            <a:off x="9567862" y="2622383"/>
            <a:ext cx="1317327" cy="874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Reports</a:t>
            </a:r>
          </a:p>
        </p:txBody>
      </p:sp>
      <p:sp>
        <p:nvSpPr>
          <p:cNvPr id="612" name="→"/>
          <p:cNvSpPr txBox="1"/>
          <p:nvPr/>
        </p:nvSpPr>
        <p:spPr>
          <a:xfrm>
            <a:off x="10487025" y="2681288"/>
            <a:ext cx="25146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613" name="Rectangle"/>
          <p:cNvSpPr/>
          <p:nvPr/>
        </p:nvSpPr>
        <p:spPr>
          <a:xfrm>
            <a:off x="10679430" y="2381250"/>
            <a:ext cx="1083946" cy="1000125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14" name="Reusable Scanner"/>
          <p:cNvSpPr txBox="1"/>
          <p:nvPr/>
        </p:nvSpPr>
        <p:spPr>
          <a:xfrm>
            <a:off x="10756844" y="2533650"/>
            <a:ext cx="1410497" cy="874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3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Reusable Scanner</a:t>
            </a:r>
          </a:p>
        </p:txBody>
      </p:sp>
      <p:sp>
        <p:nvSpPr>
          <p:cNvPr id="615" name="Rectangle"/>
          <p:cNvSpPr/>
          <p:nvPr/>
        </p:nvSpPr>
        <p:spPr>
          <a:xfrm>
            <a:off x="6285865" y="3905250"/>
            <a:ext cx="4286885" cy="419100"/>
          </a:xfrm>
          <a:prstGeom prst="rect">
            <a:avLst/>
          </a:prstGeom>
          <a:solidFill>
            <a:srgbClr val="ECFDF5"/>
          </a:solidFill>
          <a:ln w="3175">
            <a:solidFill>
              <a:srgbClr val="ECFDF5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16" name="manual checks became repeatable security automation"/>
          <p:cNvSpPr txBox="1"/>
          <p:nvPr/>
        </p:nvSpPr>
        <p:spPr>
          <a:xfrm>
            <a:off x="6272130" y="3952875"/>
            <a:ext cx="4178701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859536">
              <a:defRPr b="1" sz="1222">
                <a:solidFill>
                  <a:srgbClr val="16653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manual checks became repeatable security automation</a:t>
            </a:r>
          </a:p>
        </p:txBody>
      </p:sp>
      <p:sp>
        <p:nvSpPr>
          <p:cNvPr id="617" name="AuthZ Scanner technical presentation"/>
          <p:cNvSpPr txBox="1"/>
          <p:nvPr/>
        </p:nvSpPr>
        <p:spPr>
          <a:xfrm>
            <a:off x="579119" y="6438900"/>
            <a:ext cx="4290062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AuthZ Scanner technical presentation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